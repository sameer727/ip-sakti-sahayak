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96"/>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8/28/2026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We are CyberSapiens, and we're building IP-SAKTI Sahayak — India's first AI assistant that gives Ayurveda MSMEs and practitioners citation-grounded IP and regulatory guidance in their own language. Today, 92,000+ AYUSH businesses navigate a maze of 10+ portals, 6+ laws, in English only. We're here to change that.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Ninety-two thousand AYUSH MSMEs have no single tool that covers Patents, Biodiversity ABS, FSSAI food classification, and drug regulations together. IP-SAKTI is the first AI assistant that integrates all six regulatory regimes, grounds every answer in the actual legal text with mandatory citations, and works in 22 Indian languages. It classifies your formulation — is it a drug, a food, a cosmetic, or a supplement? — and compares Indian requirements against international ones. It provides information and guidance, not legal advice — always with a clear disclaimer.</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Our RAG pipeline uses hybrid retrieval — BM25 for keyword precision plus dense embeddings for semantic understanding — followed by cross-encoder re-ranking. The corpus is exclusively authoritative government sources: India Code for statutes, IP India for patent data, FSSAI for food regulations, NBA for biodiversity, and WIPO Lex for international treaties. We use an open-source Indic LLM with strict guardrails — every generated sentence must map back to a source chunk, or it doesn't appear. Multilingual is powered by Bhashini, the government's own translation API.</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This is buildable today with existing, production-ready tech. Our entire stack is open-source — zero licensing. Bhashini is the government's own NMT and ASR API, free for aligned projects. Indian Kanoon's case law API costs just fifty paise per call. Total MVP build cost is under fifty thousand rupees. The risk everyone asks about — hallucination — we handle with template-based responses for critical info, a citation validator, and human escalation. Our roadmap: text-based MVP at the hackathon, voice and more languages by month nine, full government deployment with all 22 languages by month eighteen.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Let's talk impact with real numbers. An AYUSH MSME today pays fifty thousand rupees just for an initial IP consultation — with IP-SAKTI, basic regulatory queries are free, forever. Regulatory classification that takes two to three weeks? Three minutes. We shield awareness of four hundred thousand-plus TKDL formulations against biopiracy. We reach ninety-two thousand MSMEs and half a million practitioners — in their own language, voice-first, designed for Tier 2 and 3 cities. Forty percent of AYUSH MSMEs are women-led. We are deployment-ready and seeking a Ministry of AYUSH sandbox partnership.</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Our research is grounded in primary sources. The statutes: Patents Act 1970, Biological Diversity Act 2023, Drugs and Cosmetics Act, FSSAI Ayurveda Aahar 2022, and DPDP Act for data protection. The precedents: Turmeric patent revocation 1997, Neem at EPO 2000, Basmati 2002, and Shaafi Naturcure ABS ruling 2026. Market data from IBEF, Mordor Intelligence, and IMARC confirms USD 45 billion by 2034 at 15-20% CAGR. On AI safety, generic LLMs hallucinate at 58-82% on legal queries; RAG-grounded systems bring that below 17%, and our template-based critical responses target zero percent.</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8/28/2026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8/28/2026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8/28/2026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8/28/2026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8/28/2026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8/28/2026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8/28/2026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3"/>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pPr algn="l"/>
            <a:r>
              <a:rPr sz="3200" b="1" dirty="0">
                <a:solidFill>
                  <a:srgbClr val="FF6F00"/>
                </a:solidFill>
                <a:latin typeface="Arial"/>
              </a:rPr>
              <a:t>IP-SAKTI SAHAYAK</a:t>
            </a:r>
            <a:endParaRPr lang="en-US" b="1" dirty="0">
              <a:solidFill>
                <a:schemeClr val="tx1"/>
              </a:solidFill>
              <a:latin typeface="Times New Roman" panose="02020603050405020304" pitchFamily="18" charset="0"/>
              <a:cs typeface="Times New Roman" panose="02020603050405020304" pitchFamily="18" charset="0"/>
            </a:endParaRPr>
          </a:p>
          <a:p>
            <a:pPr algn="l"/>
            <a:r>
              <a:rPr sz="1800" b="0" dirty="0">
                <a:solidFill>
                  <a:srgbClr val="666666"/>
                </a:solidFill>
                <a:latin typeface="Arial"/>
              </a:rPr>
              <a:t>AI-Powered IP &amp; Regulatory Navigator for Ayurveda</a:t>
            </a:r>
          </a:p>
        </p:txBody>
      </p:sp>
      <p:sp>
        <p:nvSpPr>
          <p:cNvPr id="8" name="Title 7"/>
          <p:cNvSpPr>
            <a:spLocks noGrp="1"/>
          </p:cNvSpPr>
          <p:nvPr>
            <p:ph type="ctrTitle"/>
          </p:nvPr>
        </p:nvSpPr>
        <p:spPr>
          <a:xfrm>
            <a:off x="331286" y="-526757"/>
            <a:ext cx="10363200" cy="2076450"/>
          </a:xfrm>
        </p:spPr>
        <p:txBody>
          <a:bodyPr/>
          <a:lstStyle/>
          <a:p>
            <a:pPr algn="ctr"/>
            <a:r>
              <a:rPr sz="3600" b="1" dirty="0">
                <a:solidFill>
                  <a:srgbClr val="1A237E"/>
                </a:solidFill>
                <a:latin typeface="Arial"/>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2328843"/>
          </a:xfrm>
          <a:prstGeom prst="rect">
            <a:avLst/>
          </a:prstGeom>
          <a:noFill/>
        </p:spPr>
        <p:txBody>
          <a:bodyPr wrap="square" rtlCol="0">
            <a:spAutoFit/>
          </a:bodyPr>
          <a:lstStyle/>
          <a:p>
            <a:pPr>
              <a:spcBef>
                <a:spcPts val="600"/>
              </a:spcBef>
              <a:spcAft>
                <a:spcPts val="200"/>
              </a:spcAft>
            </a:pPr>
            <a:r>
              <a:rPr sz="1400" b="1" dirty="0">
                <a:solidFill>
                  <a:srgbClr val="1A237E"/>
                </a:solidFill>
                <a:latin typeface="Arial"/>
              </a:rPr>
              <a:t>Problem Statement ID:  </a:t>
            </a:r>
            <a:r>
              <a:rPr sz="1400" b="0" dirty="0">
                <a:solidFill>
                  <a:srgbClr val="333333"/>
                </a:solidFill>
                <a:latin typeface="Arial"/>
              </a:rPr>
              <a:t>26045</a:t>
            </a:r>
            <a:endParaRPr lang="en-US" dirty="0"/>
          </a:p>
          <a:p>
            <a:pPr>
              <a:spcBef>
                <a:spcPts val="600"/>
              </a:spcBef>
              <a:spcAft>
                <a:spcPts val="200"/>
              </a:spcAft>
            </a:pPr>
            <a:r>
              <a:rPr sz="1400" b="1" dirty="0">
                <a:solidFill>
                  <a:srgbClr val="1A237E"/>
                </a:solidFill>
                <a:latin typeface="Arial"/>
              </a:rPr>
              <a:t>Problem Statement Title:  </a:t>
            </a:r>
            <a:r>
              <a:rPr sz="1400" b="0" dirty="0">
                <a:solidFill>
                  <a:srgbClr val="333333"/>
                </a:solidFill>
                <a:latin typeface="Arial"/>
              </a:rPr>
              <a:t>IP-SAKTI </a:t>
            </a:r>
            <a:r>
              <a:rPr sz="1400" b="0" dirty="0" err="1">
                <a:solidFill>
                  <a:srgbClr val="333333"/>
                </a:solidFill>
                <a:latin typeface="Arial"/>
              </a:rPr>
              <a:t>Sahayak</a:t>
            </a:r>
            <a:r>
              <a:rPr sz="1400" b="0" dirty="0">
                <a:solidFill>
                  <a:srgbClr val="333333"/>
                </a:solidFill>
                <a:latin typeface="Arial"/>
              </a:rPr>
              <a:t> — a multilingual, RAG-based (source-cited) AI assistant for IP and regulatory guidance in Ayurveda</a:t>
            </a:r>
          </a:p>
          <a:p>
            <a:pPr>
              <a:spcBef>
                <a:spcPts val="600"/>
              </a:spcBef>
              <a:spcAft>
                <a:spcPts val="200"/>
              </a:spcAft>
            </a:pPr>
            <a:r>
              <a:rPr sz="1400" b="1" dirty="0">
                <a:solidFill>
                  <a:srgbClr val="1A237E"/>
                </a:solidFill>
                <a:latin typeface="Arial"/>
              </a:rPr>
              <a:t>Theme:  </a:t>
            </a:r>
            <a:r>
              <a:rPr sz="1400" b="0" dirty="0">
                <a:solidFill>
                  <a:srgbClr val="333333"/>
                </a:solidFill>
                <a:latin typeface="Arial"/>
              </a:rPr>
              <a:t>MedTech / </a:t>
            </a:r>
            <a:r>
              <a:rPr sz="1400" b="0" dirty="0" err="1">
                <a:solidFill>
                  <a:srgbClr val="333333"/>
                </a:solidFill>
                <a:latin typeface="Arial"/>
              </a:rPr>
              <a:t>BioTech</a:t>
            </a:r>
            <a:r>
              <a:rPr sz="1400" b="0" dirty="0">
                <a:solidFill>
                  <a:srgbClr val="333333"/>
                </a:solidFill>
                <a:latin typeface="Arial"/>
              </a:rPr>
              <a:t> / HealthTech</a:t>
            </a:r>
          </a:p>
          <a:p>
            <a:pPr>
              <a:spcBef>
                <a:spcPts val="600"/>
              </a:spcBef>
              <a:spcAft>
                <a:spcPts val="200"/>
              </a:spcAft>
            </a:pPr>
            <a:r>
              <a:rPr sz="1400" b="1" dirty="0">
                <a:solidFill>
                  <a:srgbClr val="1A237E"/>
                </a:solidFill>
                <a:latin typeface="Arial"/>
              </a:rPr>
              <a:t>PS Category:  </a:t>
            </a:r>
            <a:r>
              <a:rPr sz="1400" b="0" dirty="0">
                <a:solidFill>
                  <a:srgbClr val="333333"/>
                </a:solidFill>
                <a:latin typeface="Arial"/>
              </a:rPr>
              <a:t>Software</a:t>
            </a:r>
          </a:p>
          <a:p>
            <a:pPr>
              <a:spcBef>
                <a:spcPts val="600"/>
              </a:spcBef>
              <a:spcAft>
                <a:spcPts val="200"/>
              </a:spcAft>
            </a:pPr>
            <a:r>
              <a:rPr sz="1400" b="1" dirty="0">
                <a:solidFill>
                  <a:srgbClr val="1A237E"/>
                </a:solidFill>
                <a:latin typeface="Arial"/>
              </a:rPr>
              <a:t>Team ID:  </a:t>
            </a:r>
            <a:r>
              <a:rPr sz="1400" b="0" dirty="0">
                <a:solidFill>
                  <a:srgbClr val="333333"/>
                </a:solidFill>
                <a:latin typeface="Arial"/>
              </a:rPr>
              <a:t>[TEAM_ID]</a:t>
            </a:r>
          </a:p>
          <a:p>
            <a:pPr>
              <a:spcBef>
                <a:spcPts val="600"/>
              </a:spcBef>
              <a:spcAft>
                <a:spcPts val="200"/>
              </a:spcAft>
            </a:pPr>
            <a:r>
              <a:rPr sz="1400" b="1" dirty="0">
                <a:solidFill>
                  <a:srgbClr val="1A237E"/>
                </a:solidFill>
                <a:latin typeface="Arial"/>
              </a:rPr>
              <a:t>Team Name:  </a:t>
            </a:r>
            <a:r>
              <a:rPr sz="1400" b="0" dirty="0" err="1">
                <a:solidFill>
                  <a:srgbClr val="333333"/>
                </a:solidFill>
                <a:latin typeface="Arial"/>
              </a:rPr>
              <a:t>CyberSapien</a:t>
            </a:r>
            <a:endParaRPr sz="1400" b="0" dirty="0">
              <a:solidFill>
                <a:srgbClr val="333333"/>
              </a:solidFill>
              <a:latin typeface="Arial"/>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2723102" y="0"/>
            <a:ext cx="8432695" cy="1143000"/>
          </a:xfrm>
        </p:spPr>
        <p:txBody>
          <a:bodyPr/>
          <a:lstStyle/>
          <a:p>
            <a:pPr algn="l" eaLnBrk="1" hangingPunct="1"/>
            <a:r>
              <a:rPr sz="3600" b="1" dirty="0">
                <a:solidFill>
                  <a:srgbClr val="1A237E"/>
                </a:solidFill>
                <a:latin typeface="Arial"/>
              </a:rPr>
              <a:t>PROPOSED SOLUTION / IDEA</a:t>
            </a:r>
          </a:p>
        </p:txBody>
      </p:sp>
      <p:sp>
        <p:nvSpPr>
          <p:cNvPr id="15362" name="TextBox 8"/>
          <p:cNvSpPr txBox="1">
            <a:spLocks noChangeArrowheads="1"/>
          </p:cNvSpPr>
          <p:nvPr/>
        </p:nvSpPr>
        <p:spPr bwMode="auto">
          <a:xfrm>
            <a:off x="-1" y="2064921"/>
            <a:ext cx="12191999" cy="2492990"/>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v"/>
            </a:pPr>
            <a:endParaRPr lang="en-US" sz="3200" u="sng" dirty="0">
              <a:solidFill>
                <a:schemeClr val="tx2"/>
              </a:solidFill>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900" b="1" dirty="0" err="1">
                <a:solidFill>
                  <a:srgbClr val="1A237E"/>
                </a:solidFill>
                <a:latin typeface="Arial"/>
              </a:rPr>
              <a:t>CyberSapien</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3" name="TextBox 15362"/>
          <p:cNvSpPr txBox="1"/>
          <p:nvPr/>
        </p:nvSpPr>
        <p:spPr>
          <a:xfrm>
            <a:off x="1828800" y="960120"/>
            <a:ext cx="7315200" cy="365760"/>
          </a:xfrm>
          <a:prstGeom prst="rect">
            <a:avLst/>
          </a:prstGeom>
          <a:noFill/>
        </p:spPr>
        <p:txBody>
          <a:bodyPr wrap="none">
            <a:spAutoFit/>
          </a:bodyPr>
          <a:lstStyle/>
          <a:p>
            <a:r>
              <a:rPr sz="2000" b="1">
                <a:solidFill>
                  <a:srgbClr val="FF6F00"/>
                </a:solidFill>
                <a:latin typeface="Arial"/>
              </a:rPr>
              <a:t>IP-SAKTI SAHAYAK</a:t>
            </a:r>
          </a:p>
        </p:txBody>
      </p:sp>
      <p:sp>
        <p:nvSpPr>
          <p:cNvPr id="15364" name="Rounded Rectangle 15363"/>
          <p:cNvSpPr/>
          <p:nvPr/>
        </p:nvSpPr>
        <p:spPr>
          <a:xfrm>
            <a:off x="274320" y="1371600"/>
            <a:ext cx="11521440" cy="5029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dirty="0">
                <a:solidFill>
                  <a:srgbClr val="FFFFFF"/>
                </a:solidFill>
                <a:latin typeface="Arial"/>
              </a:rPr>
              <a:t> 92,653 AYUSH MSMEs lost in a fragmented IP &amp; regulatory maze — No single tool exists today</a:t>
            </a:r>
          </a:p>
        </p:txBody>
      </p:sp>
      <p:graphicFrame>
        <p:nvGraphicFramePr>
          <p:cNvPr id="15365" name="Table 15364"/>
          <p:cNvGraphicFramePr>
            <a:graphicFrameLocks noGrp="1"/>
          </p:cNvGraphicFramePr>
          <p:nvPr>
            <p:extLst>
              <p:ext uri="{D42A27DB-BD31-4B8C-83A1-F6EECF244321}">
                <p14:modId xmlns:p14="http://schemas.microsoft.com/office/powerpoint/2010/main" val="765580874"/>
              </p:ext>
            </p:extLst>
          </p:nvPr>
        </p:nvGraphicFramePr>
        <p:xfrm>
          <a:off x="274320" y="2057400"/>
          <a:ext cx="5486400" cy="34747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868680">
                <a:tc>
                  <a:txBody>
                    <a:bodyPr/>
                    <a:lstStyle/>
                    <a:p>
                      <a:pPr algn="ctr"/>
                      <a:endParaRPr/>
                    </a:p>
                  </a:txBody>
                  <a:tcPr>
                    <a:solidFill>
                      <a:srgbClr val="1A237E"/>
                    </a:solidFill>
                  </a:tcPr>
                </a:tc>
                <a:tc>
                  <a:txBody>
                    <a:bodyPr/>
                    <a:lstStyle/>
                    <a:p>
                      <a:pPr algn="ctr"/>
                      <a:r>
                        <a:rPr lang="en-IN" sz="1300" b="1" dirty="0">
                          <a:solidFill>
                            <a:srgbClr val="FFFFFF"/>
                          </a:solidFill>
                          <a:latin typeface="Arial"/>
                        </a:rPr>
                        <a:t> </a:t>
                      </a:r>
                      <a:r>
                        <a:rPr sz="1300" b="1" dirty="0">
                          <a:solidFill>
                            <a:srgbClr val="FFFFFF"/>
                          </a:solidFill>
                          <a:latin typeface="Arial"/>
                        </a:rPr>
                        <a:t> TODAY</a:t>
                      </a:r>
                    </a:p>
                  </a:txBody>
                  <a:tcPr>
                    <a:solidFill>
                      <a:srgbClr val="1A237E"/>
                    </a:solidFill>
                  </a:tcPr>
                </a:tc>
                <a:tc>
                  <a:txBody>
                    <a:bodyPr/>
                    <a:lstStyle/>
                    <a:p>
                      <a:pPr algn="ctr"/>
                      <a:r>
                        <a:rPr sz="1300" b="1" dirty="0">
                          <a:solidFill>
                            <a:srgbClr val="FFFFFF"/>
                          </a:solidFill>
                          <a:latin typeface="Arial"/>
                        </a:rPr>
                        <a:t>  IP-SAKTI</a:t>
                      </a:r>
                    </a:p>
                  </a:txBody>
                  <a:tcPr>
                    <a:solidFill>
                      <a:srgbClr val="1A237E"/>
                    </a:solidFill>
                  </a:tcPr>
                </a:tc>
                <a:extLst>
                  <a:ext uri="{0D108BD9-81ED-4DB2-BD59-A6C34878D82A}">
                    <a16:rowId xmlns:a16="http://schemas.microsoft.com/office/drawing/2014/main" val="10000"/>
                  </a:ext>
                </a:extLst>
              </a:tr>
              <a:tr h="868680">
                <a:tc>
                  <a:txBody>
                    <a:bodyPr/>
                    <a:lstStyle/>
                    <a:p>
                      <a:pPr algn="ctr"/>
                      <a:r>
                        <a:rPr sz="1300" b="1">
                          <a:solidFill>
                            <a:srgbClr val="1A237E"/>
                          </a:solidFill>
                          <a:latin typeface="Arial"/>
                        </a:rPr>
                        <a:t>Portals</a:t>
                      </a:r>
                    </a:p>
                  </a:txBody>
                  <a:tcPr>
                    <a:solidFill>
                      <a:srgbClr val="E3F2FD"/>
                    </a:solidFill>
                  </a:tcPr>
                </a:tc>
                <a:tc>
                  <a:txBody>
                    <a:bodyPr/>
                    <a:lstStyle/>
                    <a:p>
                      <a:pPr algn="ctr"/>
                      <a:r>
                        <a:rPr sz="1200" b="0">
                          <a:solidFill>
                            <a:srgbClr val="E53935"/>
                          </a:solidFill>
                          <a:latin typeface="Arial"/>
                        </a:rPr>
                        <a:t>10+ fragmented sites</a:t>
                      </a:r>
                    </a:p>
                  </a:txBody>
                  <a:tcPr>
                    <a:solidFill>
                      <a:srgbClr val="E3F2FD"/>
                    </a:solidFill>
                  </a:tcPr>
                </a:tc>
                <a:tc>
                  <a:txBody>
                    <a:bodyPr/>
                    <a:lstStyle/>
                    <a:p>
                      <a:pPr algn="ctr"/>
                      <a:r>
                        <a:rPr sz="1200" b="0">
                          <a:solidFill>
                            <a:srgbClr val="43A047"/>
                          </a:solidFill>
                          <a:latin typeface="Arial"/>
                        </a:rPr>
                        <a:t>1 unified assistant</a:t>
                      </a:r>
                    </a:p>
                  </a:txBody>
                  <a:tcPr>
                    <a:solidFill>
                      <a:srgbClr val="E3F2FD"/>
                    </a:solidFill>
                  </a:tcPr>
                </a:tc>
                <a:extLst>
                  <a:ext uri="{0D108BD9-81ED-4DB2-BD59-A6C34878D82A}">
                    <a16:rowId xmlns:a16="http://schemas.microsoft.com/office/drawing/2014/main" val="10001"/>
                  </a:ext>
                </a:extLst>
              </a:tr>
              <a:tr h="868680">
                <a:tc>
                  <a:txBody>
                    <a:bodyPr/>
                    <a:lstStyle/>
                    <a:p>
                      <a:pPr algn="ctr"/>
                      <a:r>
                        <a:rPr sz="1300" b="1">
                          <a:solidFill>
                            <a:srgbClr val="1A237E"/>
                          </a:solidFill>
                          <a:latin typeface="Arial"/>
                        </a:rPr>
                        <a:t>Languages</a:t>
                      </a:r>
                    </a:p>
                  </a:txBody>
                  <a:tcPr>
                    <a:solidFill>
                      <a:srgbClr val="FFFFFF"/>
                    </a:solidFill>
                  </a:tcPr>
                </a:tc>
                <a:tc>
                  <a:txBody>
                    <a:bodyPr/>
                    <a:lstStyle/>
                    <a:p>
                      <a:pPr algn="ctr"/>
                      <a:r>
                        <a:rPr sz="1200" b="0">
                          <a:solidFill>
                            <a:srgbClr val="E53935"/>
                          </a:solidFill>
                          <a:latin typeface="Arial"/>
                        </a:rPr>
                        <a:t>English only</a:t>
                      </a:r>
                    </a:p>
                  </a:txBody>
                  <a:tcPr>
                    <a:solidFill>
                      <a:srgbClr val="FFFFFF"/>
                    </a:solidFill>
                  </a:tcPr>
                </a:tc>
                <a:tc>
                  <a:txBody>
                    <a:bodyPr/>
                    <a:lstStyle/>
                    <a:p>
                      <a:pPr algn="ctr"/>
                      <a:r>
                        <a:rPr sz="1200" b="0">
                          <a:solidFill>
                            <a:srgbClr val="43A047"/>
                          </a:solidFill>
                          <a:latin typeface="Arial"/>
                        </a:rPr>
                        <a:t>22 Indic languages</a:t>
                      </a:r>
                    </a:p>
                  </a:txBody>
                  <a:tcPr>
                    <a:solidFill>
                      <a:srgbClr val="FFFFFF"/>
                    </a:solidFill>
                  </a:tcPr>
                </a:tc>
                <a:extLst>
                  <a:ext uri="{0D108BD9-81ED-4DB2-BD59-A6C34878D82A}">
                    <a16:rowId xmlns:a16="http://schemas.microsoft.com/office/drawing/2014/main" val="10002"/>
                  </a:ext>
                </a:extLst>
              </a:tr>
              <a:tr h="868680">
                <a:tc>
                  <a:txBody>
                    <a:bodyPr/>
                    <a:lstStyle/>
                    <a:p>
                      <a:pPr algn="ctr"/>
                      <a:r>
                        <a:rPr sz="1300" b="1">
                          <a:solidFill>
                            <a:srgbClr val="1A237E"/>
                          </a:solidFill>
                          <a:latin typeface="Arial"/>
                        </a:rPr>
                        <a:t>Citations</a:t>
                      </a:r>
                    </a:p>
                  </a:txBody>
                  <a:tcPr>
                    <a:solidFill>
                      <a:srgbClr val="E3F2FD"/>
                    </a:solidFill>
                  </a:tcPr>
                </a:tc>
                <a:tc>
                  <a:txBody>
                    <a:bodyPr/>
                    <a:lstStyle/>
                    <a:p>
                      <a:pPr algn="ctr"/>
                      <a:r>
                        <a:rPr sz="1200" b="0">
                          <a:solidFill>
                            <a:srgbClr val="E53935"/>
                          </a:solidFill>
                          <a:latin typeface="Arial"/>
                        </a:rPr>
                        <a:t>None / hallucinated</a:t>
                      </a:r>
                    </a:p>
                  </a:txBody>
                  <a:tcPr>
                    <a:solidFill>
                      <a:srgbClr val="E3F2FD"/>
                    </a:solidFill>
                  </a:tcPr>
                </a:tc>
                <a:tc>
                  <a:txBody>
                    <a:bodyPr/>
                    <a:lstStyle/>
                    <a:p>
                      <a:pPr algn="ctr"/>
                      <a:r>
                        <a:rPr sz="1200" b="0" dirty="0">
                          <a:solidFill>
                            <a:srgbClr val="43A047"/>
                          </a:solidFill>
                          <a:latin typeface="Arial"/>
                        </a:rPr>
                        <a:t>Every response cited</a:t>
                      </a:r>
                    </a:p>
                  </a:txBody>
                  <a:tcPr>
                    <a:solidFill>
                      <a:srgbClr val="E3F2FD"/>
                    </a:solidFill>
                  </a:tcPr>
                </a:tc>
                <a:extLst>
                  <a:ext uri="{0D108BD9-81ED-4DB2-BD59-A6C34878D82A}">
                    <a16:rowId xmlns:a16="http://schemas.microsoft.com/office/drawing/2014/main" val="10003"/>
                  </a:ext>
                </a:extLst>
              </a:tr>
            </a:tbl>
          </a:graphicData>
        </a:graphic>
      </p:graphicFrame>
      <p:sp>
        <p:nvSpPr>
          <p:cNvPr id="15366" name="TextBox 15365"/>
          <p:cNvSpPr txBox="1"/>
          <p:nvPr/>
        </p:nvSpPr>
        <p:spPr>
          <a:xfrm>
            <a:off x="6126480" y="2057400"/>
            <a:ext cx="5486400" cy="3474720"/>
          </a:xfrm>
          <a:prstGeom prst="rect">
            <a:avLst/>
          </a:prstGeom>
          <a:noFill/>
        </p:spPr>
        <p:txBody>
          <a:bodyPr wrap="square">
            <a:spAutoFit/>
          </a:bodyPr>
          <a:lstStyle/>
          <a:p>
            <a:pPr>
              <a:spcBef>
                <a:spcPts val="1000"/>
              </a:spcBef>
              <a:spcAft>
                <a:spcPts val="600"/>
              </a:spcAft>
            </a:pPr>
            <a:r>
              <a:rPr sz="1800" b="1">
                <a:solidFill>
                  <a:srgbClr val="FF6F00"/>
                </a:solidFill>
                <a:latin typeface="Arial"/>
              </a:rPr>
              <a:t>▸ </a:t>
            </a:r>
            <a:r>
              <a:rPr sz="1800" b="0">
                <a:solidFill>
                  <a:srgbClr val="333333"/>
                </a:solidFill>
                <a:latin typeface="Arial"/>
              </a:rPr>
              <a:t>92K+ MSMEs lost in IP maze</a:t>
            </a:r>
          </a:p>
          <a:p>
            <a:pPr>
              <a:spcBef>
                <a:spcPts val="1000"/>
              </a:spcBef>
              <a:spcAft>
                <a:spcPts val="600"/>
              </a:spcAft>
            </a:pPr>
            <a:r>
              <a:rPr sz="1800" b="1">
                <a:solidFill>
                  <a:srgbClr val="FF6F00"/>
                </a:solidFill>
                <a:latin typeface="Arial"/>
              </a:rPr>
              <a:t>▸ </a:t>
            </a:r>
            <a:r>
              <a:rPr sz="1800" b="0">
                <a:solidFill>
                  <a:srgbClr val="333333"/>
                </a:solidFill>
                <a:latin typeface="Arial"/>
              </a:rPr>
              <a:t>No unified IP + regulatory tool</a:t>
            </a:r>
          </a:p>
          <a:p>
            <a:pPr>
              <a:spcBef>
                <a:spcPts val="1000"/>
              </a:spcBef>
              <a:spcAft>
                <a:spcPts val="600"/>
              </a:spcAft>
            </a:pPr>
            <a:r>
              <a:rPr sz="1800" b="1">
                <a:solidFill>
                  <a:srgbClr val="FF6F00"/>
                </a:solidFill>
                <a:latin typeface="Arial"/>
              </a:rPr>
              <a:t>▸ </a:t>
            </a:r>
            <a:r>
              <a:rPr sz="1800" b="0">
                <a:solidFill>
                  <a:srgbClr val="333333"/>
                </a:solidFill>
                <a:latin typeface="Arial"/>
              </a:rPr>
              <a:t>First RAG-cited AYUSH AI assistant</a:t>
            </a:r>
          </a:p>
          <a:p>
            <a:pPr>
              <a:spcBef>
                <a:spcPts val="1000"/>
              </a:spcBef>
              <a:spcAft>
                <a:spcPts val="600"/>
              </a:spcAft>
            </a:pPr>
            <a:r>
              <a:rPr sz="1800" b="1">
                <a:solidFill>
                  <a:srgbClr val="FF6F00"/>
                </a:solidFill>
                <a:latin typeface="Arial"/>
              </a:rPr>
              <a:t>▸ </a:t>
            </a:r>
            <a:r>
              <a:rPr sz="1800" b="0">
                <a:solidFill>
                  <a:srgbClr val="333333"/>
                </a:solidFill>
                <a:latin typeface="Arial"/>
              </a:rPr>
              <a:t>Classifies: Drug, Food, Cosmetic, Supplement</a:t>
            </a:r>
          </a:p>
          <a:p>
            <a:pPr>
              <a:spcBef>
                <a:spcPts val="1000"/>
              </a:spcBef>
              <a:spcAft>
                <a:spcPts val="600"/>
              </a:spcAft>
            </a:pPr>
            <a:r>
              <a:rPr sz="1800" b="1">
                <a:solidFill>
                  <a:srgbClr val="FF6F00"/>
                </a:solidFill>
                <a:latin typeface="Arial"/>
              </a:rPr>
              <a:t>▸ </a:t>
            </a:r>
            <a:r>
              <a:rPr sz="1800" b="0">
                <a:solidFill>
                  <a:srgbClr val="333333"/>
                </a:solidFill>
                <a:latin typeface="Arial"/>
              </a:rPr>
              <a:t>India vs International toggle built-in</a:t>
            </a:r>
          </a:p>
        </p:txBody>
      </p:sp>
      <p:sp>
        <p:nvSpPr>
          <p:cNvPr id="15367" name="TextBox 15366"/>
          <p:cNvSpPr txBox="1"/>
          <p:nvPr/>
        </p:nvSpPr>
        <p:spPr>
          <a:xfrm>
            <a:off x="274320" y="5715000"/>
            <a:ext cx="9144000" cy="365760"/>
          </a:xfrm>
          <a:prstGeom prst="rect">
            <a:avLst/>
          </a:prstGeom>
          <a:noFill/>
        </p:spPr>
        <p:txBody>
          <a:bodyPr wrap="none">
            <a:spAutoFit/>
          </a:bodyPr>
          <a:lstStyle/>
          <a:p>
            <a:r>
              <a:rPr sz="1100" i="1">
                <a:solidFill>
                  <a:srgbClr val="666666"/>
                </a:solidFill>
                <a:latin typeface="Arial"/>
              </a:rPr>
              <a:t>ℹ  Information &amp; guidance only — not legal advice. Clear disclaimer on every response.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sz="3600" b="1">
                <a:solidFill>
                  <a:srgbClr val="1A237E"/>
                </a:solidFill>
                <a:latin typeface="Arial"/>
              </a:rPr>
              <a:t>TECHNICAL APPROACH</a:t>
            </a:r>
          </a:p>
        </p:txBody>
      </p:sp>
      <p:sp>
        <p:nvSpPr>
          <p:cNvPr id="17410" name="TextBox 8"/>
          <p:cNvSpPr txBox="1">
            <a:spLocks noChangeArrowheads="1"/>
          </p:cNvSpPr>
          <p:nvPr/>
        </p:nvSpPr>
        <p:spPr bwMode="auto">
          <a:xfrm>
            <a:off x="609600" y="2533653"/>
            <a:ext cx="9385300" cy="1815882"/>
          </a:xfrm>
          <a:prstGeom prst="rect">
            <a:avLst/>
          </a:prstGeom>
          <a:noFill/>
          <a:ln w="9525">
            <a:noFill/>
            <a:miter lim="800000"/>
            <a:headEnd/>
            <a:tailEnd/>
          </a:ln>
        </p:spPr>
        <p:txBody>
          <a:bodyPr wrap="square">
            <a:spAutoFit/>
          </a:bodyPr>
          <a:lstStyle/>
          <a:p>
            <a:pPr marL="342900" indent="-342900" algn="just">
              <a:buFont typeface="Arial" panose="020B0604020202020204" pitchFamily="34" charset="0"/>
              <a:buChar char="•"/>
            </a:pPr>
            <a:endParaRP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900" b="1" dirty="0" err="1">
                <a:solidFill>
                  <a:srgbClr val="1A237E"/>
                </a:solidFill>
                <a:latin typeface="Arial"/>
              </a:rPr>
              <a:t>CyberSapien</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TextBox 17410"/>
          <p:cNvSpPr txBox="1"/>
          <p:nvPr/>
        </p:nvSpPr>
        <p:spPr>
          <a:xfrm>
            <a:off x="640080" y="1051560"/>
            <a:ext cx="9144000" cy="365760"/>
          </a:xfrm>
          <a:prstGeom prst="rect">
            <a:avLst/>
          </a:prstGeom>
          <a:noFill/>
        </p:spPr>
        <p:txBody>
          <a:bodyPr wrap="none">
            <a:spAutoFit/>
          </a:bodyPr>
          <a:lstStyle/>
          <a:p>
            <a:r>
              <a:rPr sz="1600" b="1">
                <a:solidFill>
                  <a:srgbClr val="FF6F00"/>
                </a:solidFill>
                <a:latin typeface="Arial"/>
              </a:rPr>
              <a:t>RAG PIPELINE — 6-NODE ARCHITECTURE</a:t>
            </a:r>
          </a:p>
        </p:txBody>
      </p:sp>
      <p:sp>
        <p:nvSpPr>
          <p:cNvPr id="17412" name="Rounded Rectangle 17411"/>
          <p:cNvSpPr/>
          <p:nvPr/>
        </p:nvSpPr>
        <p:spPr>
          <a:xfrm>
            <a:off x="365760" y="1508760"/>
            <a:ext cx="1600200" cy="105156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bIns="22860" rtlCol="0" anchor="ctr"/>
          <a:lstStyle/>
          <a:p>
            <a:pPr algn="ctr"/>
            <a:r>
              <a:rPr sz="1200" b="1">
                <a:solidFill>
                  <a:srgbClr val="FFFFFF"/>
                </a:solidFill>
                <a:latin typeface="Arial"/>
              </a:rPr>
              <a:t>USER
QUERY</a:t>
            </a:r>
          </a:p>
          <a:p>
            <a:pPr algn="ctr">
              <a:spcBef>
                <a:spcPts val="200"/>
              </a:spcBef>
            </a:pPr>
            <a:r>
              <a:rPr sz="900" b="0">
                <a:solidFill>
                  <a:srgbClr val="CCDDFF"/>
                </a:solidFill>
                <a:latin typeface="Arial"/>
              </a:rPr>
              <a:t>(22 languages)</a:t>
            </a:r>
          </a:p>
        </p:txBody>
      </p:sp>
      <p:sp>
        <p:nvSpPr>
          <p:cNvPr id="17413" name="Right Arrow 17412"/>
          <p:cNvSpPr/>
          <p:nvPr/>
        </p:nvSpPr>
        <p:spPr>
          <a:xfrm>
            <a:off x="1970960" y="1897380"/>
            <a:ext cx="320040" cy="274320"/>
          </a:xfrm>
          <a:prstGeom prst="rightArrow">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14" name="Rounded Rectangle 17413"/>
          <p:cNvSpPr/>
          <p:nvPr/>
        </p:nvSpPr>
        <p:spPr>
          <a:xfrm>
            <a:off x="2306000" y="1508760"/>
            <a:ext cx="1600200" cy="10515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bIns="22860" rtlCol="0" anchor="ctr"/>
          <a:lstStyle/>
          <a:p>
            <a:pPr algn="ctr"/>
            <a:r>
              <a:rPr sz="1200" b="1">
                <a:solidFill>
                  <a:srgbClr val="FFFFFF"/>
                </a:solidFill>
                <a:latin typeface="Arial"/>
              </a:rPr>
              <a:t>CLASSIFY
FORMULATION</a:t>
            </a:r>
          </a:p>
          <a:p>
            <a:pPr algn="ctr">
              <a:spcBef>
                <a:spcPts val="200"/>
              </a:spcBef>
            </a:pPr>
            <a:r>
              <a:rPr sz="900" b="0">
                <a:solidFill>
                  <a:srgbClr val="CCDDFF"/>
                </a:solidFill>
                <a:latin typeface="Arial"/>
              </a:rPr>
              <a:t>(Drug/Food/...)</a:t>
            </a:r>
          </a:p>
        </p:txBody>
      </p:sp>
      <p:sp>
        <p:nvSpPr>
          <p:cNvPr id="17415" name="Right Arrow 17414"/>
          <p:cNvSpPr/>
          <p:nvPr/>
        </p:nvSpPr>
        <p:spPr>
          <a:xfrm>
            <a:off x="3911200" y="1897380"/>
            <a:ext cx="320040" cy="274320"/>
          </a:xfrm>
          <a:prstGeom prst="rightArrow">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16" name="Rounded Rectangle 17415"/>
          <p:cNvSpPr/>
          <p:nvPr/>
        </p:nvSpPr>
        <p:spPr>
          <a:xfrm>
            <a:off x="4246240" y="1508760"/>
            <a:ext cx="1600200" cy="10515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bIns="22860" rtlCol="0" anchor="ctr"/>
          <a:lstStyle/>
          <a:p>
            <a:pPr algn="ctr"/>
            <a:r>
              <a:rPr sz="1200" b="1">
                <a:solidFill>
                  <a:srgbClr val="FFFFFF"/>
                </a:solidFill>
                <a:latin typeface="Arial"/>
              </a:rPr>
              <a:t>ROUTE
TO LAW</a:t>
            </a:r>
          </a:p>
          <a:p>
            <a:pPr algn="ctr">
              <a:spcBef>
                <a:spcPts val="200"/>
              </a:spcBef>
            </a:pPr>
            <a:r>
              <a:rPr sz="900" b="0">
                <a:solidFill>
                  <a:srgbClr val="CCDDFF"/>
                </a:solidFill>
                <a:latin typeface="Arial"/>
              </a:rPr>
              <a:t>(Domain select)</a:t>
            </a:r>
          </a:p>
        </p:txBody>
      </p:sp>
      <p:sp>
        <p:nvSpPr>
          <p:cNvPr id="17417" name="Right Arrow 17416"/>
          <p:cNvSpPr/>
          <p:nvPr/>
        </p:nvSpPr>
        <p:spPr>
          <a:xfrm>
            <a:off x="5851440" y="1897380"/>
            <a:ext cx="320040" cy="274320"/>
          </a:xfrm>
          <a:prstGeom prst="rightArrow">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18" name="Rounded Rectangle 17417"/>
          <p:cNvSpPr/>
          <p:nvPr/>
        </p:nvSpPr>
        <p:spPr>
          <a:xfrm>
            <a:off x="6186480" y="1508760"/>
            <a:ext cx="1600200" cy="10515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bIns="22860" rtlCol="0" anchor="ctr"/>
          <a:lstStyle/>
          <a:p>
            <a:pPr algn="ctr"/>
            <a:r>
              <a:rPr sz="1200" b="1">
                <a:solidFill>
                  <a:srgbClr val="FFFFFF"/>
                </a:solidFill>
                <a:latin typeface="Arial"/>
              </a:rPr>
              <a:t>RETRIEVE
BM25+Dense</a:t>
            </a:r>
          </a:p>
          <a:p>
            <a:pPr algn="ctr">
              <a:spcBef>
                <a:spcPts val="200"/>
              </a:spcBef>
            </a:pPr>
            <a:r>
              <a:rPr sz="900" b="0">
                <a:solidFill>
                  <a:srgbClr val="CCDDFF"/>
                </a:solidFill>
                <a:latin typeface="Arial"/>
              </a:rPr>
              <a:t>(Hybrid search)</a:t>
            </a:r>
          </a:p>
        </p:txBody>
      </p:sp>
      <p:sp>
        <p:nvSpPr>
          <p:cNvPr id="17419" name="Right Arrow 17418"/>
          <p:cNvSpPr/>
          <p:nvPr/>
        </p:nvSpPr>
        <p:spPr>
          <a:xfrm>
            <a:off x="7791680" y="1897380"/>
            <a:ext cx="320040" cy="274320"/>
          </a:xfrm>
          <a:prstGeom prst="rightArrow">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0" name="Rounded Rectangle 17419"/>
          <p:cNvSpPr/>
          <p:nvPr/>
        </p:nvSpPr>
        <p:spPr>
          <a:xfrm>
            <a:off x="8126720" y="1508760"/>
            <a:ext cx="1600200" cy="10515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bIns="22860" rtlCol="0" anchor="ctr"/>
          <a:lstStyle/>
          <a:p>
            <a:pPr algn="ctr"/>
            <a:r>
              <a:rPr sz="1200" b="1">
                <a:solidFill>
                  <a:srgbClr val="FFFFFF"/>
                </a:solidFill>
                <a:latin typeface="Arial"/>
              </a:rPr>
              <a:t>VALIDATE
CROSS-ENC</a:t>
            </a:r>
          </a:p>
          <a:p>
            <a:pPr algn="ctr">
              <a:spcBef>
                <a:spcPts val="200"/>
              </a:spcBef>
            </a:pPr>
            <a:r>
              <a:rPr sz="900" b="0">
                <a:solidFill>
                  <a:srgbClr val="CCDDFF"/>
                </a:solidFill>
                <a:latin typeface="Arial"/>
              </a:rPr>
              <a:t>(Re-ranking)</a:t>
            </a:r>
          </a:p>
        </p:txBody>
      </p:sp>
      <p:sp>
        <p:nvSpPr>
          <p:cNvPr id="17421" name="Right Arrow 17420"/>
          <p:cNvSpPr/>
          <p:nvPr/>
        </p:nvSpPr>
        <p:spPr>
          <a:xfrm>
            <a:off x="9731920" y="1897380"/>
            <a:ext cx="320040" cy="274320"/>
          </a:xfrm>
          <a:prstGeom prst="rightArrow">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2" name="Rounded Rectangle 17421"/>
          <p:cNvSpPr/>
          <p:nvPr/>
        </p:nvSpPr>
        <p:spPr>
          <a:xfrm>
            <a:off x="10066960" y="1508760"/>
            <a:ext cx="1600200" cy="1051560"/>
          </a:xfrm>
          <a:prstGeom prst="round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wrap="square" bIns="22860" rtlCol="0" anchor="ctr"/>
          <a:lstStyle/>
          <a:p>
            <a:pPr algn="ctr"/>
            <a:r>
              <a:rPr sz="1200" b="1">
                <a:solidFill>
                  <a:srgbClr val="FFFFFF"/>
                </a:solidFill>
                <a:latin typeface="Arial"/>
              </a:rPr>
              <a:t>CITE &amp;
RESPOND</a:t>
            </a:r>
          </a:p>
          <a:p>
            <a:pPr algn="ctr">
              <a:spcBef>
                <a:spcPts val="200"/>
              </a:spcBef>
            </a:pPr>
            <a:r>
              <a:rPr sz="900" b="0">
                <a:solidFill>
                  <a:srgbClr val="CCDDFF"/>
                </a:solidFill>
                <a:latin typeface="Arial"/>
              </a:rPr>
              <a:t>(Sourced output)</a:t>
            </a:r>
          </a:p>
        </p:txBody>
      </p:sp>
      <p:sp>
        <p:nvSpPr>
          <p:cNvPr id="17423" name="TextBox 17422"/>
          <p:cNvSpPr txBox="1"/>
          <p:nvPr/>
        </p:nvSpPr>
        <p:spPr>
          <a:xfrm>
            <a:off x="457200" y="2834640"/>
            <a:ext cx="5943600" cy="2926080"/>
          </a:xfrm>
          <a:prstGeom prst="rect">
            <a:avLst/>
          </a:prstGeom>
          <a:noFill/>
        </p:spPr>
        <p:txBody>
          <a:bodyPr wrap="square">
            <a:spAutoFit/>
          </a:bodyPr>
          <a:lstStyle/>
          <a:p>
            <a:pPr>
              <a:spcBef>
                <a:spcPts val="800"/>
              </a:spcBef>
              <a:spcAft>
                <a:spcPts val="400"/>
              </a:spcAft>
            </a:pPr>
            <a:r>
              <a:rPr sz="1800" b="1">
                <a:solidFill>
                  <a:srgbClr val="00897B"/>
                </a:solidFill>
                <a:latin typeface="Arial"/>
              </a:rPr>
              <a:t>▸ </a:t>
            </a:r>
            <a:r>
              <a:rPr sz="1800" b="0">
                <a:solidFill>
                  <a:srgbClr val="333333"/>
                </a:solidFill>
                <a:latin typeface="Arial"/>
              </a:rPr>
              <a:t>Hybrid BM25 + Dense retrieval</a:t>
            </a:r>
          </a:p>
          <a:p>
            <a:pPr>
              <a:spcBef>
                <a:spcPts val="800"/>
              </a:spcBef>
              <a:spcAft>
                <a:spcPts val="400"/>
              </a:spcAft>
            </a:pPr>
            <a:r>
              <a:rPr sz="1800" b="1">
                <a:solidFill>
                  <a:srgbClr val="00897B"/>
                </a:solidFill>
                <a:latin typeface="Arial"/>
              </a:rPr>
              <a:t>▸ </a:t>
            </a:r>
            <a:r>
              <a:rPr sz="1800" b="0">
                <a:solidFill>
                  <a:srgbClr val="333333"/>
                </a:solidFill>
                <a:latin typeface="Arial"/>
              </a:rPr>
              <a:t>Cross-encoder re-ranking for precision</a:t>
            </a:r>
          </a:p>
          <a:p>
            <a:pPr>
              <a:spcBef>
                <a:spcPts val="800"/>
              </a:spcBef>
              <a:spcAft>
                <a:spcPts val="400"/>
              </a:spcAft>
            </a:pPr>
            <a:r>
              <a:rPr sz="1800" b="1">
                <a:solidFill>
                  <a:srgbClr val="00897B"/>
                </a:solidFill>
                <a:latin typeface="Arial"/>
              </a:rPr>
              <a:t>▸ </a:t>
            </a:r>
            <a:r>
              <a:rPr sz="1800" b="0">
                <a:solidFill>
                  <a:srgbClr val="333333"/>
                </a:solidFill>
                <a:latin typeface="Arial"/>
              </a:rPr>
              <a:t>Open-source Indic LLM, guardrailed</a:t>
            </a:r>
          </a:p>
          <a:p>
            <a:pPr>
              <a:spcBef>
                <a:spcPts val="800"/>
              </a:spcBef>
              <a:spcAft>
                <a:spcPts val="400"/>
              </a:spcAft>
            </a:pPr>
            <a:r>
              <a:rPr sz="1800" b="1">
                <a:solidFill>
                  <a:srgbClr val="00897B"/>
                </a:solidFill>
                <a:latin typeface="Arial"/>
              </a:rPr>
              <a:t>▸ </a:t>
            </a:r>
            <a:r>
              <a:rPr sz="1800" b="0">
                <a:solidFill>
                  <a:srgbClr val="333333"/>
                </a:solidFill>
                <a:latin typeface="Arial"/>
              </a:rPr>
              <a:t>Bhashini API: 22-language translation</a:t>
            </a:r>
          </a:p>
          <a:p>
            <a:pPr>
              <a:spcBef>
                <a:spcPts val="800"/>
              </a:spcBef>
              <a:spcAft>
                <a:spcPts val="400"/>
              </a:spcAft>
            </a:pPr>
            <a:r>
              <a:rPr sz="1800" b="1">
                <a:solidFill>
                  <a:srgbClr val="00897B"/>
                </a:solidFill>
                <a:latin typeface="Arial"/>
              </a:rPr>
              <a:t>▸ </a:t>
            </a:r>
            <a:r>
              <a:rPr sz="1800" b="0">
                <a:solidFill>
                  <a:srgbClr val="333333"/>
                </a:solidFill>
                <a:latin typeface="Arial"/>
              </a:rPr>
              <a:t>Corpus: India Code, FSSAI, WIPO Lex</a:t>
            </a:r>
          </a:p>
        </p:txBody>
      </p:sp>
      <p:sp>
        <p:nvSpPr>
          <p:cNvPr id="17424" name="TextBox 17423"/>
          <p:cNvSpPr txBox="1"/>
          <p:nvPr/>
        </p:nvSpPr>
        <p:spPr>
          <a:xfrm>
            <a:off x="6858000" y="2834640"/>
            <a:ext cx="4572000" cy="320040"/>
          </a:xfrm>
          <a:prstGeom prst="rect">
            <a:avLst/>
          </a:prstGeom>
          <a:noFill/>
        </p:spPr>
        <p:txBody>
          <a:bodyPr wrap="none">
            <a:spAutoFit/>
          </a:bodyPr>
          <a:lstStyle/>
          <a:p>
            <a:r>
              <a:rPr sz="1400" b="1">
                <a:solidFill>
                  <a:srgbClr val="1A237E"/>
                </a:solidFill>
                <a:latin typeface="Arial"/>
              </a:rPr>
              <a:t>TECH STACK</a:t>
            </a:r>
          </a:p>
        </p:txBody>
      </p:sp>
      <p:sp>
        <p:nvSpPr>
          <p:cNvPr id="17425" name="Rounded Rectangle 17424"/>
          <p:cNvSpPr/>
          <p:nvPr/>
        </p:nvSpPr>
        <p:spPr>
          <a:xfrm>
            <a:off x="6858000" y="3246120"/>
            <a:ext cx="2011680" cy="41148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rial"/>
              </a:rPr>
              <a:t>Python / FastAPI</a:t>
            </a:r>
          </a:p>
        </p:txBody>
      </p:sp>
      <p:sp>
        <p:nvSpPr>
          <p:cNvPr id="17426" name="Rounded Rectangle 17425"/>
          <p:cNvSpPr/>
          <p:nvPr/>
        </p:nvSpPr>
        <p:spPr>
          <a:xfrm>
            <a:off x="6858000" y="3697600"/>
            <a:ext cx="2011680" cy="41148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rial"/>
              </a:rPr>
              <a:t>LangChain</a:t>
            </a:r>
          </a:p>
        </p:txBody>
      </p:sp>
      <p:sp>
        <p:nvSpPr>
          <p:cNvPr id="17427" name="Rounded Rectangle 17426"/>
          <p:cNvSpPr/>
          <p:nvPr/>
        </p:nvSpPr>
        <p:spPr>
          <a:xfrm>
            <a:off x="6858000" y="4149080"/>
            <a:ext cx="2011680" cy="411480"/>
          </a:xfrm>
          <a:prstGeom prst="round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rial"/>
              </a:rPr>
              <a:t>ChromaDB / Neo4j</a:t>
            </a:r>
          </a:p>
        </p:txBody>
      </p:sp>
      <p:sp>
        <p:nvSpPr>
          <p:cNvPr id="17428" name="Rounded Rectangle 17427"/>
          <p:cNvSpPr/>
          <p:nvPr/>
        </p:nvSpPr>
        <p:spPr>
          <a:xfrm>
            <a:off x="6858000" y="4600560"/>
            <a:ext cx="2011680" cy="41148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rial"/>
              </a:rPr>
              <a:t>Bhashini API</a:t>
            </a:r>
          </a:p>
        </p:txBody>
      </p:sp>
      <p:sp>
        <p:nvSpPr>
          <p:cNvPr id="17429" name="Rounded Rectangle 17428"/>
          <p:cNvSpPr/>
          <p:nvPr/>
        </p:nvSpPr>
        <p:spPr>
          <a:xfrm>
            <a:off x="6858000" y="5052040"/>
            <a:ext cx="2011680" cy="41148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rial"/>
              </a:rPr>
              <a:t>React.js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sz="3600" b="1">
                <a:solidFill>
                  <a:srgbClr val="1A237E"/>
                </a:solidFill>
                <a:latin typeface="Arial"/>
              </a:rPr>
              <a:t>FEASIBILITY AND VIABILITY</a:t>
            </a:r>
          </a:p>
        </p:txBody>
      </p:sp>
      <p:sp>
        <p:nvSpPr>
          <p:cNvPr id="17410" name="TextBox 8"/>
          <p:cNvSpPr txBox="1">
            <a:spLocks noChangeArrowheads="1"/>
          </p:cNvSpPr>
          <p:nvPr/>
        </p:nvSpPr>
        <p:spPr bwMode="auto">
          <a:xfrm>
            <a:off x="609600" y="2533653"/>
            <a:ext cx="9385300" cy="1384995"/>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900" b="1" dirty="0" err="1">
                <a:solidFill>
                  <a:srgbClr val="1A237E"/>
                </a:solidFill>
                <a:latin typeface="Arial"/>
              </a:rPr>
              <a:t>CyberSapien</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TextBox 17410"/>
          <p:cNvSpPr txBox="1"/>
          <p:nvPr/>
        </p:nvSpPr>
        <p:spPr>
          <a:xfrm>
            <a:off x="457200" y="1188720"/>
            <a:ext cx="5303520" cy="2743200"/>
          </a:xfrm>
          <a:prstGeom prst="rect">
            <a:avLst/>
          </a:prstGeom>
          <a:noFill/>
        </p:spPr>
        <p:txBody>
          <a:bodyPr wrap="square">
            <a:spAutoFit/>
          </a:bodyPr>
          <a:lstStyle/>
          <a:p>
            <a:pPr>
              <a:spcBef>
                <a:spcPts val="800"/>
              </a:spcBef>
              <a:spcAft>
                <a:spcPts val="600"/>
              </a:spcAft>
            </a:pPr>
            <a:r>
              <a:rPr sz="1800" b="1">
                <a:solidFill>
                  <a:srgbClr val="FF6F00"/>
                </a:solidFill>
                <a:latin typeface="Arial"/>
              </a:rPr>
              <a:t>▸ </a:t>
            </a:r>
            <a:r>
              <a:rPr sz="1800" b="0">
                <a:solidFill>
                  <a:srgbClr val="333333"/>
                </a:solidFill>
                <a:latin typeface="Arial"/>
              </a:rPr>
              <a:t>100% open-source, zero licensing cost</a:t>
            </a:r>
          </a:p>
          <a:p>
            <a:pPr>
              <a:spcBef>
                <a:spcPts val="800"/>
              </a:spcBef>
              <a:spcAft>
                <a:spcPts val="600"/>
              </a:spcAft>
            </a:pPr>
            <a:r>
              <a:rPr sz="1800" b="1">
                <a:solidFill>
                  <a:srgbClr val="FF6F00"/>
                </a:solidFill>
                <a:latin typeface="Arial"/>
              </a:rPr>
              <a:t>▸ </a:t>
            </a:r>
            <a:r>
              <a:rPr sz="1800" b="0">
                <a:solidFill>
                  <a:srgbClr val="333333"/>
                </a:solidFill>
                <a:latin typeface="Arial"/>
              </a:rPr>
              <a:t>Bhashini API: production-ready, free</a:t>
            </a:r>
          </a:p>
          <a:p>
            <a:pPr>
              <a:spcBef>
                <a:spcPts val="800"/>
              </a:spcBef>
              <a:spcAft>
                <a:spcPts val="600"/>
              </a:spcAft>
            </a:pPr>
            <a:r>
              <a:rPr sz="1800" b="1">
                <a:solidFill>
                  <a:srgbClr val="FF6F00"/>
                </a:solidFill>
                <a:latin typeface="Arial"/>
              </a:rPr>
              <a:t>▸ </a:t>
            </a:r>
            <a:r>
              <a:rPr sz="1800" b="0">
                <a:solidFill>
                  <a:srgbClr val="333333"/>
                </a:solidFill>
                <a:latin typeface="Arial"/>
              </a:rPr>
              <a:t>Indian Kanoon: ₹0.50/call only</a:t>
            </a:r>
          </a:p>
          <a:p>
            <a:pPr>
              <a:spcBef>
                <a:spcPts val="800"/>
              </a:spcBef>
              <a:spcAft>
                <a:spcPts val="600"/>
              </a:spcAft>
            </a:pPr>
            <a:r>
              <a:rPr sz="1800" b="1">
                <a:solidFill>
                  <a:srgbClr val="FF6F00"/>
                </a:solidFill>
                <a:latin typeface="Arial"/>
              </a:rPr>
              <a:t>▸ </a:t>
            </a:r>
            <a:r>
              <a:rPr sz="1800" b="0">
                <a:solidFill>
                  <a:srgbClr val="333333"/>
                </a:solidFill>
                <a:latin typeface="Arial"/>
              </a:rPr>
              <a:t>MVP build cost under ₹50,000</a:t>
            </a:r>
          </a:p>
          <a:p>
            <a:pPr>
              <a:spcBef>
                <a:spcPts val="800"/>
              </a:spcBef>
              <a:spcAft>
                <a:spcPts val="600"/>
              </a:spcAft>
            </a:pPr>
            <a:r>
              <a:rPr sz="1800" b="1">
                <a:solidFill>
                  <a:srgbClr val="FF6F00"/>
                </a:solidFill>
                <a:latin typeface="Arial"/>
              </a:rPr>
              <a:t>▸ </a:t>
            </a:r>
            <a:r>
              <a:rPr sz="1800" b="0">
                <a:solidFill>
                  <a:srgbClr val="333333"/>
                </a:solidFill>
                <a:latin typeface="Arial"/>
              </a:rPr>
              <a:t>Freemium SaaS model for MSMEs</a:t>
            </a:r>
          </a:p>
        </p:txBody>
      </p:sp>
      <p:sp>
        <p:nvSpPr>
          <p:cNvPr id="17412" name="TextBox 17411"/>
          <p:cNvSpPr txBox="1"/>
          <p:nvPr/>
        </p:nvSpPr>
        <p:spPr>
          <a:xfrm>
            <a:off x="6217920" y="1097280"/>
            <a:ext cx="5029200" cy="320040"/>
          </a:xfrm>
          <a:prstGeom prst="rect">
            <a:avLst/>
          </a:prstGeom>
          <a:noFill/>
        </p:spPr>
        <p:txBody>
          <a:bodyPr wrap="none">
            <a:spAutoFit/>
          </a:bodyPr>
          <a:lstStyle/>
          <a:p>
            <a:r>
              <a:rPr sz="1400" b="1">
                <a:solidFill>
                  <a:srgbClr val="1A237E"/>
                </a:solidFill>
                <a:latin typeface="Arial"/>
              </a:rPr>
              <a:t>RISK → MITIGATION</a:t>
            </a:r>
          </a:p>
        </p:txBody>
      </p:sp>
      <p:graphicFrame>
        <p:nvGraphicFramePr>
          <p:cNvPr id="17413" name="Table 17412"/>
          <p:cNvGraphicFramePr>
            <a:graphicFrameLocks noGrp="1"/>
          </p:cNvGraphicFramePr>
          <p:nvPr>
            <p:extLst>
              <p:ext uri="{D42A27DB-BD31-4B8C-83A1-F6EECF244321}">
                <p14:modId xmlns:p14="http://schemas.microsoft.com/office/powerpoint/2010/main" val="2380756698"/>
              </p:ext>
            </p:extLst>
          </p:nvPr>
        </p:nvGraphicFramePr>
        <p:xfrm>
          <a:off x="6217920" y="1463040"/>
          <a:ext cx="5029200" cy="164592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548640">
                <a:tc>
                  <a:txBody>
                    <a:bodyPr/>
                    <a:lstStyle/>
                    <a:p>
                      <a:pPr algn="ctr"/>
                      <a:r>
                        <a:rPr sz="1200" b="1">
                          <a:solidFill>
                            <a:srgbClr val="FFFFFF"/>
                          </a:solidFill>
                          <a:latin typeface="Arial"/>
                        </a:rPr>
                        <a:t>RISK</a:t>
                      </a:r>
                    </a:p>
                  </a:txBody>
                  <a:tcPr>
                    <a:solidFill>
                      <a:srgbClr val="1A237E"/>
                    </a:solidFill>
                  </a:tcPr>
                </a:tc>
                <a:tc>
                  <a:txBody>
                    <a:bodyPr/>
                    <a:lstStyle/>
                    <a:p>
                      <a:pPr algn="ctr"/>
                      <a:r>
                        <a:rPr sz="1200" b="1">
                          <a:solidFill>
                            <a:srgbClr val="FFFFFF"/>
                          </a:solidFill>
                          <a:latin typeface="Arial"/>
                        </a:rPr>
                        <a:t>MITIGATION</a:t>
                      </a:r>
                    </a:p>
                  </a:txBody>
                  <a:tcPr>
                    <a:solidFill>
                      <a:srgbClr val="1A237E"/>
                    </a:solidFill>
                  </a:tcPr>
                </a:tc>
                <a:extLst>
                  <a:ext uri="{0D108BD9-81ED-4DB2-BD59-A6C34878D82A}">
                    <a16:rowId xmlns:a16="http://schemas.microsoft.com/office/drawing/2014/main" val="10000"/>
                  </a:ext>
                </a:extLst>
              </a:tr>
              <a:tr h="548640">
                <a:tc>
                  <a:txBody>
                    <a:bodyPr/>
                    <a:lstStyle/>
                    <a:p>
                      <a:pPr algn="l"/>
                      <a:r>
                        <a:rPr sz="1100" b="1" dirty="0">
                          <a:solidFill>
                            <a:srgbClr val="E53935"/>
                          </a:solidFill>
                          <a:latin typeface="Arial"/>
                        </a:rPr>
                        <a:t> Hallucination</a:t>
                      </a:r>
                    </a:p>
                  </a:txBody>
                  <a:tcPr>
                    <a:solidFill>
                      <a:srgbClr val="FFEBEE"/>
                    </a:solidFill>
                  </a:tcPr>
                </a:tc>
                <a:tc>
                  <a:txBody>
                    <a:bodyPr/>
                    <a:lstStyle/>
                    <a:p>
                      <a:pPr algn="l"/>
                      <a:r>
                        <a:rPr sz="1000" b="0">
                          <a:solidFill>
                            <a:srgbClr val="333333"/>
                          </a:solidFill>
                          <a:latin typeface="Arial"/>
                        </a:rPr>
                        <a:t>Template-based fees/forms + citation validator + human escalation</a:t>
                      </a:r>
                    </a:p>
                  </a:txBody>
                  <a:tcPr>
                    <a:solidFill>
                      <a:srgbClr val="FFEBEE"/>
                    </a:solidFill>
                  </a:tcPr>
                </a:tc>
                <a:extLst>
                  <a:ext uri="{0D108BD9-81ED-4DB2-BD59-A6C34878D82A}">
                    <a16:rowId xmlns:a16="http://schemas.microsoft.com/office/drawing/2014/main" val="10001"/>
                  </a:ext>
                </a:extLst>
              </a:tr>
              <a:tr h="548640">
                <a:tc>
                  <a:txBody>
                    <a:bodyPr/>
                    <a:lstStyle/>
                    <a:p>
                      <a:pPr algn="l"/>
                      <a:r>
                        <a:rPr sz="1100" b="1" dirty="0">
                          <a:solidFill>
                            <a:srgbClr val="FFB300"/>
                          </a:solidFill>
                          <a:latin typeface="Arial"/>
                        </a:rPr>
                        <a:t> Data Freshness</a:t>
                      </a:r>
                    </a:p>
                  </a:txBody>
                  <a:tcPr>
                    <a:solidFill>
                      <a:srgbClr val="FFF8E1"/>
                    </a:solidFill>
                  </a:tcPr>
                </a:tc>
                <a:tc>
                  <a:txBody>
                    <a:bodyPr/>
                    <a:lstStyle/>
                    <a:p>
                      <a:pPr algn="l"/>
                      <a:r>
                        <a:rPr sz="1000" b="0" dirty="0">
                          <a:solidFill>
                            <a:srgbClr val="333333"/>
                          </a:solidFill>
                          <a:latin typeface="Arial"/>
                        </a:rPr>
                        <a:t>Automated gazette monitoring, quarterly corpus update</a:t>
                      </a:r>
                    </a:p>
                  </a:txBody>
                  <a:tcPr>
                    <a:solidFill>
                      <a:srgbClr val="FFF8E1"/>
                    </a:solidFill>
                  </a:tcPr>
                </a:tc>
                <a:extLst>
                  <a:ext uri="{0D108BD9-81ED-4DB2-BD59-A6C34878D82A}">
                    <a16:rowId xmlns:a16="http://schemas.microsoft.com/office/drawing/2014/main" val="10002"/>
                  </a:ext>
                </a:extLst>
              </a:tr>
            </a:tbl>
          </a:graphicData>
        </a:graphic>
      </p:graphicFrame>
      <p:sp>
        <p:nvSpPr>
          <p:cNvPr id="17414" name="TextBox 17413"/>
          <p:cNvSpPr txBox="1"/>
          <p:nvPr/>
        </p:nvSpPr>
        <p:spPr>
          <a:xfrm>
            <a:off x="457200" y="4069080"/>
            <a:ext cx="10972800" cy="320040"/>
          </a:xfrm>
          <a:prstGeom prst="rect">
            <a:avLst/>
          </a:prstGeom>
          <a:noFill/>
        </p:spPr>
        <p:txBody>
          <a:bodyPr wrap="none">
            <a:spAutoFit/>
          </a:bodyPr>
          <a:lstStyle/>
          <a:p>
            <a:r>
              <a:rPr sz="1600" b="1">
                <a:solidFill>
                  <a:srgbClr val="1A237E"/>
                </a:solidFill>
                <a:latin typeface="Arial"/>
              </a:rPr>
              <a:t>ROADMAP</a:t>
            </a:r>
          </a:p>
        </p:txBody>
      </p:sp>
      <p:sp>
        <p:nvSpPr>
          <p:cNvPr id="17415" name="Rounded Rectangle 17414"/>
          <p:cNvSpPr/>
          <p:nvPr/>
        </p:nvSpPr>
        <p:spPr>
          <a:xfrm>
            <a:off x="457200" y="4480560"/>
            <a:ext cx="3474720" cy="36576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rial"/>
              </a:rPr>
              <a:t>PHASE 1 · MVP  ·  Hackathon + 3 months</a:t>
            </a:r>
          </a:p>
        </p:txBody>
      </p:sp>
      <p:sp>
        <p:nvSpPr>
          <p:cNvPr id="17416" name="TextBox 17415"/>
          <p:cNvSpPr txBox="1"/>
          <p:nvPr/>
        </p:nvSpPr>
        <p:spPr>
          <a:xfrm>
            <a:off x="548640" y="4892040"/>
            <a:ext cx="3291840" cy="1097280"/>
          </a:xfrm>
          <a:prstGeom prst="rect">
            <a:avLst/>
          </a:prstGeom>
          <a:noFill/>
        </p:spPr>
        <p:txBody>
          <a:bodyPr wrap="square">
            <a:spAutoFit/>
          </a:bodyPr>
          <a:lstStyle/>
          <a:p>
            <a:pPr>
              <a:spcBef>
                <a:spcPts val="300"/>
              </a:spcBef>
            </a:pPr>
            <a:r>
              <a:rPr sz="1200">
                <a:solidFill>
                  <a:srgbClr val="333333"/>
                </a:solidFill>
                <a:latin typeface="Arial"/>
              </a:rPr>
              <a:t>• Text chatbot</a:t>
            </a:r>
          </a:p>
          <a:p>
            <a:pPr>
              <a:spcBef>
                <a:spcPts val="300"/>
              </a:spcBef>
            </a:pPr>
            <a:r>
              <a:rPr sz="1200">
                <a:solidFill>
                  <a:srgbClr val="333333"/>
                </a:solidFill>
                <a:latin typeface="Arial"/>
              </a:rPr>
              <a:t>• Hindi + English</a:t>
            </a:r>
          </a:p>
          <a:p>
            <a:pPr>
              <a:spcBef>
                <a:spcPts val="300"/>
              </a:spcBef>
            </a:pPr>
            <a:r>
              <a:rPr sz="1200">
                <a:solidFill>
                  <a:srgbClr val="333333"/>
                </a:solidFill>
                <a:latin typeface="Arial"/>
              </a:rPr>
              <a:t>• Formulation classifier</a:t>
            </a:r>
          </a:p>
        </p:txBody>
      </p:sp>
      <p:sp>
        <p:nvSpPr>
          <p:cNvPr id="17417" name="Right Arrow 17416"/>
          <p:cNvSpPr/>
          <p:nvPr/>
        </p:nvSpPr>
        <p:spPr>
          <a:xfrm>
            <a:off x="3941920" y="4617720"/>
            <a:ext cx="182880" cy="182880"/>
          </a:xfrm>
          <a:prstGeom prst="rightArrow">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18" name="Rounded Rectangle 17417"/>
          <p:cNvSpPr/>
          <p:nvPr/>
        </p:nvSpPr>
        <p:spPr>
          <a:xfrm>
            <a:off x="4160520" y="4480560"/>
            <a:ext cx="3474720" cy="3657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rial"/>
              </a:rPr>
              <a:t>PHASE 2 · SCALE  ·  Months 4–9</a:t>
            </a:r>
          </a:p>
        </p:txBody>
      </p:sp>
      <p:sp>
        <p:nvSpPr>
          <p:cNvPr id="17419" name="TextBox 17418"/>
          <p:cNvSpPr txBox="1"/>
          <p:nvPr/>
        </p:nvSpPr>
        <p:spPr>
          <a:xfrm>
            <a:off x="4251960" y="4892040"/>
            <a:ext cx="3291840" cy="1097280"/>
          </a:xfrm>
          <a:prstGeom prst="rect">
            <a:avLst/>
          </a:prstGeom>
          <a:noFill/>
        </p:spPr>
        <p:txBody>
          <a:bodyPr wrap="square">
            <a:spAutoFit/>
          </a:bodyPr>
          <a:lstStyle/>
          <a:p>
            <a:pPr>
              <a:spcBef>
                <a:spcPts val="300"/>
              </a:spcBef>
            </a:pPr>
            <a:r>
              <a:rPr sz="1200">
                <a:solidFill>
                  <a:srgbClr val="333333"/>
                </a:solidFill>
                <a:latin typeface="Arial"/>
              </a:rPr>
              <a:t>• Voice I/O via Bhashini</a:t>
            </a:r>
          </a:p>
          <a:p>
            <a:pPr>
              <a:spcBef>
                <a:spcPts val="300"/>
              </a:spcBef>
            </a:pPr>
            <a:r>
              <a:rPr sz="1200">
                <a:solidFill>
                  <a:srgbClr val="333333"/>
                </a:solidFill>
                <a:latin typeface="Arial"/>
              </a:rPr>
              <a:t>• 7 languages total</a:t>
            </a:r>
          </a:p>
          <a:p>
            <a:pPr>
              <a:spcBef>
                <a:spcPts val="300"/>
              </a:spcBef>
            </a:pPr>
            <a:r>
              <a:rPr sz="1200">
                <a:solidFill>
                  <a:srgbClr val="333333"/>
                </a:solidFill>
                <a:latin typeface="Arial"/>
              </a:rPr>
              <a:t>• Document upload &amp; analysis</a:t>
            </a:r>
          </a:p>
        </p:txBody>
      </p:sp>
      <p:sp>
        <p:nvSpPr>
          <p:cNvPr id="17420" name="Right Arrow 17419"/>
          <p:cNvSpPr/>
          <p:nvPr/>
        </p:nvSpPr>
        <p:spPr>
          <a:xfrm>
            <a:off x="7645240" y="4617720"/>
            <a:ext cx="182880" cy="182880"/>
          </a:xfrm>
          <a:prstGeom prst="rightArrow">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1" name="Rounded Rectangle 17420"/>
          <p:cNvSpPr/>
          <p:nvPr/>
        </p:nvSpPr>
        <p:spPr>
          <a:xfrm>
            <a:off x="7863840" y="4480560"/>
            <a:ext cx="3474720" cy="365760"/>
          </a:xfrm>
          <a:prstGeom prst="round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rial"/>
              </a:rPr>
              <a:t>PHASE 3 · GOV  ·  Months 10–18</a:t>
            </a:r>
          </a:p>
        </p:txBody>
      </p:sp>
      <p:sp>
        <p:nvSpPr>
          <p:cNvPr id="17422" name="TextBox 17421"/>
          <p:cNvSpPr txBox="1"/>
          <p:nvPr/>
        </p:nvSpPr>
        <p:spPr>
          <a:xfrm>
            <a:off x="7955280" y="4892040"/>
            <a:ext cx="3291840" cy="1097280"/>
          </a:xfrm>
          <a:prstGeom prst="rect">
            <a:avLst/>
          </a:prstGeom>
          <a:noFill/>
        </p:spPr>
        <p:txBody>
          <a:bodyPr wrap="square">
            <a:spAutoFit/>
          </a:bodyPr>
          <a:lstStyle/>
          <a:p>
            <a:pPr>
              <a:spcBef>
                <a:spcPts val="300"/>
              </a:spcBef>
            </a:pPr>
            <a:r>
              <a:rPr sz="1200">
                <a:solidFill>
                  <a:srgbClr val="333333"/>
                </a:solidFill>
                <a:latin typeface="Arial"/>
              </a:rPr>
              <a:t>• All 22 languages</a:t>
            </a:r>
          </a:p>
          <a:p>
            <a:pPr>
              <a:spcBef>
                <a:spcPts val="300"/>
              </a:spcBef>
            </a:pPr>
            <a:r>
              <a:rPr sz="1200">
                <a:solidFill>
                  <a:srgbClr val="333333"/>
                </a:solidFill>
                <a:latin typeface="Arial"/>
              </a:rPr>
              <a:t>• Knowledge graph (Neo4j)</a:t>
            </a:r>
          </a:p>
          <a:p>
            <a:pPr>
              <a:spcBef>
                <a:spcPts val="300"/>
              </a:spcBef>
            </a:pPr>
            <a:r>
              <a:rPr sz="1200">
                <a:solidFill>
                  <a:srgbClr val="333333"/>
                </a:solidFill>
                <a:latin typeface="Arial"/>
              </a:rPr>
              <a:t>• Direct registry APIs</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sz="3600" b="1">
                <a:solidFill>
                  <a:srgbClr val="1A237E"/>
                </a:solidFill>
                <a:latin typeface="Arial"/>
              </a:rPr>
              <a:t>IMPACT AND BENEFITS</a:t>
            </a:r>
          </a:p>
        </p:txBody>
      </p:sp>
      <p:sp>
        <p:nvSpPr>
          <p:cNvPr id="17410" name="TextBox 8"/>
          <p:cNvSpPr txBox="1">
            <a:spLocks noChangeArrowheads="1"/>
          </p:cNvSpPr>
          <p:nvPr/>
        </p:nvSpPr>
        <p:spPr bwMode="auto">
          <a:xfrm>
            <a:off x="609600" y="2533653"/>
            <a:ext cx="9385300" cy="1384995"/>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900" b="1" dirty="0" err="1">
                <a:solidFill>
                  <a:srgbClr val="1A237E"/>
                </a:solidFill>
                <a:latin typeface="Arial"/>
              </a:rPr>
              <a:t>CyberSapien</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TextBox 17410"/>
          <p:cNvSpPr txBox="1"/>
          <p:nvPr/>
        </p:nvSpPr>
        <p:spPr>
          <a:xfrm>
            <a:off x="457200" y="1188720"/>
            <a:ext cx="5029200" cy="2743200"/>
          </a:xfrm>
          <a:prstGeom prst="rect">
            <a:avLst/>
          </a:prstGeom>
          <a:noFill/>
        </p:spPr>
        <p:txBody>
          <a:bodyPr wrap="square">
            <a:spAutoFit/>
          </a:bodyPr>
          <a:lstStyle/>
          <a:p>
            <a:pPr>
              <a:spcBef>
                <a:spcPts val="1000"/>
              </a:spcBef>
              <a:spcAft>
                <a:spcPts val="600"/>
              </a:spcAft>
            </a:pPr>
            <a:r>
              <a:rPr sz="2000" b="1">
                <a:solidFill>
                  <a:srgbClr val="FF6F00"/>
                </a:solidFill>
                <a:latin typeface="Arial"/>
              </a:rPr>
              <a:t>▸ </a:t>
            </a:r>
            <a:r>
              <a:rPr sz="2000" b="0">
                <a:solidFill>
                  <a:srgbClr val="333333"/>
                </a:solidFill>
                <a:latin typeface="Arial"/>
              </a:rPr>
              <a:t>₹50K consultation → ₹0 basic queries</a:t>
            </a:r>
          </a:p>
          <a:p>
            <a:pPr>
              <a:spcBef>
                <a:spcPts val="1000"/>
              </a:spcBef>
              <a:spcAft>
                <a:spcPts val="600"/>
              </a:spcAft>
            </a:pPr>
            <a:r>
              <a:rPr sz="2000" b="1">
                <a:solidFill>
                  <a:srgbClr val="FF6F00"/>
                </a:solidFill>
                <a:latin typeface="Arial"/>
              </a:rPr>
              <a:t>▸ </a:t>
            </a:r>
            <a:r>
              <a:rPr sz="2000" b="0">
                <a:solidFill>
                  <a:srgbClr val="333333"/>
                </a:solidFill>
                <a:latin typeface="Arial"/>
              </a:rPr>
              <a:t>3-week classification → 3 minutes</a:t>
            </a:r>
          </a:p>
          <a:p>
            <a:pPr>
              <a:spcBef>
                <a:spcPts val="1000"/>
              </a:spcBef>
              <a:spcAft>
                <a:spcPts val="600"/>
              </a:spcAft>
            </a:pPr>
            <a:r>
              <a:rPr sz="2000" b="1">
                <a:solidFill>
                  <a:srgbClr val="FF6F00"/>
                </a:solidFill>
                <a:latin typeface="Arial"/>
              </a:rPr>
              <a:t>▸ </a:t>
            </a:r>
            <a:r>
              <a:rPr sz="2000" b="0">
                <a:solidFill>
                  <a:srgbClr val="333333"/>
                </a:solidFill>
                <a:latin typeface="Arial"/>
              </a:rPr>
              <a:t>400K+ TKDL formulations shielded</a:t>
            </a:r>
          </a:p>
          <a:p>
            <a:pPr>
              <a:spcBef>
                <a:spcPts val="1000"/>
              </a:spcBef>
              <a:spcAft>
                <a:spcPts val="600"/>
              </a:spcAft>
            </a:pPr>
            <a:r>
              <a:rPr sz="2000" b="1">
                <a:solidFill>
                  <a:srgbClr val="FF6F00"/>
                </a:solidFill>
                <a:latin typeface="Arial"/>
              </a:rPr>
              <a:t>▸ </a:t>
            </a:r>
            <a:r>
              <a:rPr sz="2000" b="0">
                <a:solidFill>
                  <a:srgbClr val="333333"/>
                </a:solidFill>
                <a:latin typeface="Arial"/>
              </a:rPr>
              <a:t>92,653 MSMEs + 500K practitioners</a:t>
            </a:r>
          </a:p>
          <a:p>
            <a:pPr>
              <a:spcBef>
                <a:spcPts val="1000"/>
              </a:spcBef>
              <a:spcAft>
                <a:spcPts val="600"/>
              </a:spcAft>
            </a:pPr>
            <a:r>
              <a:rPr sz="2000" b="1">
                <a:solidFill>
                  <a:srgbClr val="FF6F00"/>
                </a:solidFill>
                <a:latin typeface="Arial"/>
              </a:rPr>
              <a:t>▸ </a:t>
            </a:r>
            <a:r>
              <a:rPr sz="2000" b="0">
                <a:solidFill>
                  <a:srgbClr val="333333"/>
                </a:solidFill>
                <a:latin typeface="Arial"/>
              </a:rPr>
              <a:t>Voice-first for Tier 2/3 cities</a:t>
            </a:r>
          </a:p>
        </p:txBody>
      </p:sp>
      <p:sp>
        <p:nvSpPr>
          <p:cNvPr id="17412" name="TextBox 17411"/>
          <p:cNvSpPr txBox="1"/>
          <p:nvPr/>
        </p:nvSpPr>
        <p:spPr>
          <a:xfrm>
            <a:off x="5943600" y="1097280"/>
            <a:ext cx="5486400" cy="320040"/>
          </a:xfrm>
          <a:prstGeom prst="rect">
            <a:avLst/>
          </a:prstGeom>
          <a:noFill/>
        </p:spPr>
        <p:txBody>
          <a:bodyPr wrap="none">
            <a:spAutoFit/>
          </a:bodyPr>
          <a:lstStyle/>
          <a:p>
            <a:r>
              <a:rPr sz="1600" b="1">
                <a:solidFill>
                  <a:srgbClr val="1A237E"/>
                </a:solidFill>
                <a:latin typeface="Arial"/>
              </a:rPr>
              <a:t>BEFORE  vs  AFTER</a:t>
            </a:r>
          </a:p>
        </p:txBody>
      </p:sp>
      <p:graphicFrame>
        <p:nvGraphicFramePr>
          <p:cNvPr id="17413" name="Table 17412"/>
          <p:cNvGraphicFramePr>
            <a:graphicFrameLocks noGrp="1"/>
          </p:cNvGraphicFramePr>
          <p:nvPr>
            <p:extLst>
              <p:ext uri="{D42A27DB-BD31-4B8C-83A1-F6EECF244321}">
                <p14:modId xmlns:p14="http://schemas.microsoft.com/office/powerpoint/2010/main" val="3465239345"/>
              </p:ext>
            </p:extLst>
          </p:nvPr>
        </p:nvGraphicFramePr>
        <p:xfrm>
          <a:off x="5943600" y="1463040"/>
          <a:ext cx="5486400" cy="27432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48640">
                <a:tc>
                  <a:txBody>
                    <a:bodyPr/>
                    <a:lstStyle/>
                    <a:p>
                      <a:pPr algn="ctr"/>
                      <a:r>
                        <a:rPr sz="1200" b="1">
                          <a:solidFill>
                            <a:srgbClr val="FFFFFF"/>
                          </a:solidFill>
                          <a:latin typeface="Arial"/>
                        </a:rPr>
                        <a:t>METRIC</a:t>
                      </a:r>
                    </a:p>
                  </a:txBody>
                  <a:tcPr>
                    <a:solidFill>
                      <a:srgbClr val="1A237E"/>
                    </a:solidFill>
                  </a:tcPr>
                </a:tc>
                <a:tc>
                  <a:txBody>
                    <a:bodyPr/>
                    <a:lstStyle/>
                    <a:p>
                      <a:pPr algn="ctr"/>
                      <a:r>
                        <a:rPr sz="1200" b="1" dirty="0">
                          <a:solidFill>
                            <a:srgbClr val="FFFFFF"/>
                          </a:solidFill>
                          <a:latin typeface="Arial"/>
                        </a:rPr>
                        <a:t> BEFORE</a:t>
                      </a:r>
                    </a:p>
                  </a:txBody>
                  <a:tcPr>
                    <a:solidFill>
                      <a:srgbClr val="1A237E"/>
                    </a:solidFill>
                  </a:tcPr>
                </a:tc>
                <a:tc>
                  <a:txBody>
                    <a:bodyPr/>
                    <a:lstStyle/>
                    <a:p>
                      <a:pPr algn="ctr"/>
                      <a:r>
                        <a:rPr sz="1200" b="1" dirty="0">
                          <a:solidFill>
                            <a:srgbClr val="FFFFFF"/>
                          </a:solidFill>
                          <a:latin typeface="Arial"/>
                        </a:rPr>
                        <a:t> AFTER</a:t>
                      </a:r>
                    </a:p>
                  </a:txBody>
                  <a:tcPr>
                    <a:solidFill>
                      <a:srgbClr val="1A237E"/>
                    </a:solidFill>
                  </a:tcPr>
                </a:tc>
                <a:extLst>
                  <a:ext uri="{0D108BD9-81ED-4DB2-BD59-A6C34878D82A}">
                    <a16:rowId xmlns:a16="http://schemas.microsoft.com/office/drawing/2014/main" val="10000"/>
                  </a:ext>
                </a:extLst>
              </a:tr>
              <a:tr h="548640">
                <a:tc>
                  <a:txBody>
                    <a:bodyPr/>
                    <a:lstStyle/>
                    <a:p>
                      <a:pPr algn="ctr"/>
                      <a:r>
                        <a:rPr sz="1300" b="1">
                          <a:solidFill>
                            <a:srgbClr val="1A237E"/>
                          </a:solidFill>
                          <a:latin typeface="Arial"/>
                        </a:rPr>
                        <a:t>IP Consultation</a:t>
                      </a:r>
                    </a:p>
                  </a:txBody>
                  <a:tcPr>
                    <a:solidFill>
                      <a:srgbClr val="E3F2FD"/>
                    </a:solidFill>
                  </a:tcPr>
                </a:tc>
                <a:tc>
                  <a:txBody>
                    <a:bodyPr/>
                    <a:lstStyle/>
                    <a:p>
                      <a:pPr algn="ctr"/>
                      <a:r>
                        <a:rPr sz="1400" b="1">
                          <a:solidFill>
                            <a:srgbClr val="E53935"/>
                          </a:solidFill>
                          <a:latin typeface="Arial"/>
                        </a:rPr>
                        <a:t>₹50,000</a:t>
                      </a:r>
                    </a:p>
                  </a:txBody>
                  <a:tcPr>
                    <a:solidFill>
                      <a:srgbClr val="E3F2FD"/>
                    </a:solidFill>
                  </a:tcPr>
                </a:tc>
                <a:tc>
                  <a:txBody>
                    <a:bodyPr/>
                    <a:lstStyle/>
                    <a:p>
                      <a:pPr algn="ctr"/>
                      <a:r>
                        <a:rPr sz="1400" b="1">
                          <a:solidFill>
                            <a:srgbClr val="43A047"/>
                          </a:solidFill>
                          <a:latin typeface="Arial"/>
                        </a:rPr>
                        <a:t>₹0</a:t>
                      </a:r>
                    </a:p>
                  </a:txBody>
                  <a:tcPr>
                    <a:solidFill>
                      <a:srgbClr val="E3F2FD"/>
                    </a:solidFill>
                  </a:tcPr>
                </a:tc>
                <a:extLst>
                  <a:ext uri="{0D108BD9-81ED-4DB2-BD59-A6C34878D82A}">
                    <a16:rowId xmlns:a16="http://schemas.microsoft.com/office/drawing/2014/main" val="10001"/>
                  </a:ext>
                </a:extLst>
              </a:tr>
              <a:tr h="548640">
                <a:tc>
                  <a:txBody>
                    <a:bodyPr/>
                    <a:lstStyle/>
                    <a:p>
                      <a:pPr algn="ctr"/>
                      <a:r>
                        <a:rPr sz="1300" b="1">
                          <a:solidFill>
                            <a:srgbClr val="1A237E"/>
                          </a:solidFill>
                          <a:latin typeface="Arial"/>
                        </a:rPr>
                        <a:t>Classification Time</a:t>
                      </a:r>
                    </a:p>
                  </a:txBody>
                  <a:tcPr>
                    <a:solidFill>
                      <a:srgbClr val="FFFFFF"/>
                    </a:solidFill>
                  </a:tcPr>
                </a:tc>
                <a:tc>
                  <a:txBody>
                    <a:bodyPr/>
                    <a:lstStyle/>
                    <a:p>
                      <a:pPr algn="ctr"/>
                      <a:r>
                        <a:rPr sz="1400" b="1">
                          <a:solidFill>
                            <a:srgbClr val="E53935"/>
                          </a:solidFill>
                          <a:latin typeface="Arial"/>
                        </a:rPr>
                        <a:t>2–3 weeks</a:t>
                      </a:r>
                    </a:p>
                  </a:txBody>
                  <a:tcPr>
                    <a:solidFill>
                      <a:srgbClr val="FFFFFF"/>
                    </a:solidFill>
                  </a:tcPr>
                </a:tc>
                <a:tc>
                  <a:txBody>
                    <a:bodyPr/>
                    <a:lstStyle/>
                    <a:p>
                      <a:pPr algn="ctr"/>
                      <a:r>
                        <a:rPr sz="1400" b="1">
                          <a:solidFill>
                            <a:srgbClr val="43A047"/>
                          </a:solidFill>
                          <a:latin typeface="Arial"/>
                        </a:rPr>
                        <a:t>3 minutes</a:t>
                      </a:r>
                    </a:p>
                  </a:txBody>
                  <a:tcPr>
                    <a:solidFill>
                      <a:srgbClr val="FFFFFF"/>
                    </a:solidFill>
                  </a:tcPr>
                </a:tc>
                <a:extLst>
                  <a:ext uri="{0D108BD9-81ED-4DB2-BD59-A6C34878D82A}">
                    <a16:rowId xmlns:a16="http://schemas.microsoft.com/office/drawing/2014/main" val="10002"/>
                  </a:ext>
                </a:extLst>
              </a:tr>
              <a:tr h="548640">
                <a:tc>
                  <a:txBody>
                    <a:bodyPr/>
                    <a:lstStyle/>
                    <a:p>
                      <a:pPr algn="ctr"/>
                      <a:r>
                        <a:rPr sz="1300" b="1">
                          <a:solidFill>
                            <a:srgbClr val="1A237E"/>
                          </a:solidFill>
                          <a:latin typeface="Arial"/>
                        </a:rPr>
                        <a:t>Languages</a:t>
                      </a:r>
                    </a:p>
                  </a:txBody>
                  <a:tcPr>
                    <a:solidFill>
                      <a:srgbClr val="E3F2FD"/>
                    </a:solidFill>
                  </a:tcPr>
                </a:tc>
                <a:tc>
                  <a:txBody>
                    <a:bodyPr/>
                    <a:lstStyle/>
                    <a:p>
                      <a:pPr algn="ctr"/>
                      <a:r>
                        <a:rPr sz="1400" b="1">
                          <a:solidFill>
                            <a:srgbClr val="E53935"/>
                          </a:solidFill>
                          <a:latin typeface="Arial"/>
                        </a:rPr>
                        <a:t>1 (English)</a:t>
                      </a:r>
                    </a:p>
                  </a:txBody>
                  <a:tcPr>
                    <a:solidFill>
                      <a:srgbClr val="E3F2FD"/>
                    </a:solidFill>
                  </a:tcPr>
                </a:tc>
                <a:tc>
                  <a:txBody>
                    <a:bodyPr/>
                    <a:lstStyle/>
                    <a:p>
                      <a:pPr algn="ctr"/>
                      <a:r>
                        <a:rPr sz="1400" b="1">
                          <a:solidFill>
                            <a:srgbClr val="43A047"/>
                          </a:solidFill>
                          <a:latin typeface="Arial"/>
                        </a:rPr>
                        <a:t>22 Indic</a:t>
                      </a:r>
                    </a:p>
                  </a:txBody>
                  <a:tcPr>
                    <a:solidFill>
                      <a:srgbClr val="E3F2FD"/>
                    </a:solidFill>
                  </a:tcPr>
                </a:tc>
                <a:extLst>
                  <a:ext uri="{0D108BD9-81ED-4DB2-BD59-A6C34878D82A}">
                    <a16:rowId xmlns:a16="http://schemas.microsoft.com/office/drawing/2014/main" val="10003"/>
                  </a:ext>
                </a:extLst>
              </a:tr>
              <a:tr h="548640">
                <a:tc>
                  <a:txBody>
                    <a:bodyPr/>
                    <a:lstStyle/>
                    <a:p>
                      <a:pPr algn="ctr"/>
                      <a:r>
                        <a:rPr sz="1300" b="1">
                          <a:solidFill>
                            <a:srgbClr val="1A237E"/>
                          </a:solidFill>
                          <a:latin typeface="Arial"/>
                        </a:rPr>
                        <a:t>Portals</a:t>
                      </a:r>
                    </a:p>
                  </a:txBody>
                  <a:tcPr>
                    <a:solidFill>
                      <a:srgbClr val="FFFFFF"/>
                    </a:solidFill>
                  </a:tcPr>
                </a:tc>
                <a:tc>
                  <a:txBody>
                    <a:bodyPr/>
                    <a:lstStyle/>
                    <a:p>
                      <a:pPr algn="ctr"/>
                      <a:r>
                        <a:rPr sz="1400" b="1">
                          <a:solidFill>
                            <a:srgbClr val="E53935"/>
                          </a:solidFill>
                          <a:latin typeface="Arial"/>
                        </a:rPr>
                        <a:t>10+ sites</a:t>
                      </a:r>
                    </a:p>
                  </a:txBody>
                  <a:tcPr>
                    <a:solidFill>
                      <a:srgbClr val="FFFFFF"/>
                    </a:solidFill>
                  </a:tcPr>
                </a:tc>
                <a:tc>
                  <a:txBody>
                    <a:bodyPr/>
                    <a:lstStyle/>
                    <a:p>
                      <a:pPr algn="ctr"/>
                      <a:r>
                        <a:rPr sz="1400" b="1" dirty="0">
                          <a:solidFill>
                            <a:srgbClr val="43A047"/>
                          </a:solidFill>
                          <a:latin typeface="Arial"/>
                        </a:rPr>
                        <a:t>1 assistant</a:t>
                      </a:r>
                    </a:p>
                  </a:txBody>
                  <a:tcPr>
                    <a:solidFill>
                      <a:srgbClr val="FFFFFF"/>
                    </a:solidFill>
                  </a:tcPr>
                </a:tc>
                <a:extLst>
                  <a:ext uri="{0D108BD9-81ED-4DB2-BD59-A6C34878D82A}">
                    <a16:rowId xmlns:a16="http://schemas.microsoft.com/office/drawing/2014/main" val="10004"/>
                  </a:ext>
                </a:extLst>
              </a:tr>
            </a:tbl>
          </a:graphicData>
        </a:graphic>
      </p:graphicFrame>
      <p:sp>
        <p:nvSpPr>
          <p:cNvPr id="17414" name="Rounded Rectangle 17413"/>
          <p:cNvSpPr/>
          <p:nvPr/>
        </p:nvSpPr>
        <p:spPr>
          <a:xfrm>
            <a:off x="274320" y="4572000"/>
            <a:ext cx="11521440" cy="777240"/>
          </a:xfrm>
          <a:prstGeom prst="round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dirty="0">
                <a:solidFill>
                  <a:srgbClr val="FFFFFF"/>
                </a:solidFill>
                <a:latin typeface="Arial"/>
              </a:rPr>
              <a:t>  WE ARE READY TO DEPLOY.</a:t>
            </a:r>
            <a:r>
              <a:rPr sz="1800" b="0" dirty="0">
                <a:solidFill>
                  <a:srgbClr val="FFFFFF"/>
                </a:solidFill>
                <a:latin typeface="Arial"/>
              </a:rPr>
              <a:t>  Seeking Ministry of AYUSH sandbox partnership.</a:t>
            </a:r>
          </a:p>
        </p:txBody>
      </p:sp>
      <p:sp>
        <p:nvSpPr>
          <p:cNvPr id="17415" name="TextBox 17414"/>
          <p:cNvSpPr txBox="1"/>
          <p:nvPr/>
        </p:nvSpPr>
        <p:spPr>
          <a:xfrm>
            <a:off x="457200" y="5440680"/>
            <a:ext cx="10972800" cy="365760"/>
          </a:xfrm>
          <a:prstGeom prst="rect">
            <a:avLst/>
          </a:prstGeom>
          <a:noFill/>
        </p:spPr>
        <p:txBody>
          <a:bodyPr wrap="none">
            <a:spAutoFit/>
          </a:bodyPr>
          <a:lstStyle/>
          <a:p>
            <a:pPr algn="ctr"/>
            <a:r>
              <a:rPr sz="1200" i="1">
                <a:solidFill>
                  <a:srgbClr val="666666"/>
                </a:solidFill>
                <a:latin typeface="Arial"/>
              </a:rPr>
              <a:t>40% of AYUSH MSMEs are women-led  ·  Voice-first design  ·  Bridges urban-rural IP knowledge gap</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sz="3600" b="1">
                <a:solidFill>
                  <a:srgbClr val="1A237E"/>
                </a:solidFill>
                <a:latin typeface="Arial"/>
              </a:rPr>
              <a:t>RESEARCH AND REFERENCES</a:t>
            </a:r>
          </a:p>
        </p:txBody>
      </p:sp>
      <p:sp>
        <p:nvSpPr>
          <p:cNvPr id="17410" name="TextBox 8"/>
          <p:cNvSpPr txBox="1">
            <a:spLocks noChangeArrowheads="1"/>
          </p:cNvSpPr>
          <p:nvPr/>
        </p:nvSpPr>
        <p:spPr bwMode="auto">
          <a:xfrm>
            <a:off x="609600" y="2795263"/>
            <a:ext cx="9385300" cy="52322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900" b="1" dirty="0" err="1">
                <a:solidFill>
                  <a:srgbClr val="1A237E"/>
                </a:solidFill>
                <a:latin typeface="Arial"/>
              </a:rPr>
              <a:t>CyberSapien</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TextBox 17410"/>
          <p:cNvSpPr txBox="1"/>
          <p:nvPr/>
        </p:nvSpPr>
        <p:spPr>
          <a:xfrm>
            <a:off x="640080" y="1051560"/>
            <a:ext cx="9144000" cy="320040"/>
          </a:xfrm>
          <a:prstGeom prst="rect">
            <a:avLst/>
          </a:prstGeom>
          <a:noFill/>
        </p:spPr>
        <p:txBody>
          <a:bodyPr wrap="none">
            <a:spAutoFit/>
          </a:bodyPr>
          <a:lstStyle/>
          <a:p>
            <a:r>
              <a:rPr sz="1400" b="1">
                <a:solidFill>
                  <a:srgbClr val="FF6F00"/>
                </a:solidFill>
                <a:latin typeface="Arial"/>
              </a:rPr>
              <a:t>AUTHORITATIVE SOURCES</a:t>
            </a:r>
          </a:p>
        </p:txBody>
      </p:sp>
      <p:sp>
        <p:nvSpPr>
          <p:cNvPr id="17412" name="Rounded Rectangle 17411"/>
          <p:cNvSpPr/>
          <p:nvPr/>
        </p:nvSpPr>
        <p:spPr>
          <a:xfrm>
            <a:off x="457200" y="1417320"/>
            <a:ext cx="1280160" cy="384048"/>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India Code</a:t>
            </a:r>
          </a:p>
        </p:txBody>
      </p:sp>
      <p:sp>
        <p:nvSpPr>
          <p:cNvPr id="17413" name="Rounded Rectangle 17412"/>
          <p:cNvSpPr/>
          <p:nvPr/>
        </p:nvSpPr>
        <p:spPr>
          <a:xfrm>
            <a:off x="1787360" y="1417320"/>
            <a:ext cx="1280160" cy="384048"/>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IP India</a:t>
            </a:r>
          </a:p>
        </p:txBody>
      </p:sp>
      <p:sp>
        <p:nvSpPr>
          <p:cNvPr id="17414" name="Rounded Rectangle 17413"/>
          <p:cNvSpPr/>
          <p:nvPr/>
        </p:nvSpPr>
        <p:spPr>
          <a:xfrm>
            <a:off x="3117520" y="1417320"/>
            <a:ext cx="1280160" cy="384048"/>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FSSAI</a:t>
            </a:r>
          </a:p>
        </p:txBody>
      </p:sp>
      <p:sp>
        <p:nvSpPr>
          <p:cNvPr id="17415" name="Rounded Rectangle 17414"/>
          <p:cNvSpPr/>
          <p:nvPr/>
        </p:nvSpPr>
        <p:spPr>
          <a:xfrm>
            <a:off x="4447680" y="1417320"/>
            <a:ext cx="1280160" cy="384048"/>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NBA</a:t>
            </a:r>
          </a:p>
        </p:txBody>
      </p:sp>
      <p:sp>
        <p:nvSpPr>
          <p:cNvPr id="17416" name="Rounded Rectangle 17415"/>
          <p:cNvSpPr/>
          <p:nvPr/>
        </p:nvSpPr>
        <p:spPr>
          <a:xfrm>
            <a:off x="5777840" y="1417320"/>
            <a:ext cx="1280160" cy="384048"/>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CDSCO</a:t>
            </a:r>
          </a:p>
        </p:txBody>
      </p:sp>
      <p:sp>
        <p:nvSpPr>
          <p:cNvPr id="17417" name="Rounded Rectangle 17416"/>
          <p:cNvSpPr/>
          <p:nvPr/>
        </p:nvSpPr>
        <p:spPr>
          <a:xfrm>
            <a:off x="7108000" y="1417320"/>
            <a:ext cx="1280160" cy="384048"/>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WIPO Lex</a:t>
            </a:r>
          </a:p>
        </p:txBody>
      </p:sp>
      <p:sp>
        <p:nvSpPr>
          <p:cNvPr id="17418" name="Rounded Rectangle 17417"/>
          <p:cNvSpPr/>
          <p:nvPr/>
        </p:nvSpPr>
        <p:spPr>
          <a:xfrm>
            <a:off x="8438160" y="1417320"/>
            <a:ext cx="1280160" cy="384048"/>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Bhashini</a:t>
            </a:r>
          </a:p>
        </p:txBody>
      </p:sp>
      <p:sp>
        <p:nvSpPr>
          <p:cNvPr id="17419" name="Rounded Rectangle 17418"/>
          <p:cNvSpPr/>
          <p:nvPr/>
        </p:nvSpPr>
        <p:spPr>
          <a:xfrm>
            <a:off x="9768320" y="1417320"/>
            <a:ext cx="1280160" cy="384048"/>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Indian Kanoon</a:t>
            </a:r>
          </a:p>
        </p:txBody>
      </p:sp>
      <p:sp>
        <p:nvSpPr>
          <p:cNvPr id="17420" name="TextBox 17419"/>
          <p:cNvSpPr txBox="1"/>
          <p:nvPr/>
        </p:nvSpPr>
        <p:spPr>
          <a:xfrm>
            <a:off x="457200" y="2011680"/>
            <a:ext cx="5943600" cy="3200400"/>
          </a:xfrm>
          <a:prstGeom prst="rect">
            <a:avLst/>
          </a:prstGeom>
          <a:noFill/>
        </p:spPr>
        <p:txBody>
          <a:bodyPr wrap="square">
            <a:spAutoFit/>
          </a:bodyPr>
          <a:lstStyle/>
          <a:p>
            <a:pPr>
              <a:spcBef>
                <a:spcPts val="1000"/>
              </a:spcBef>
              <a:spcAft>
                <a:spcPts val="600"/>
              </a:spcAft>
            </a:pPr>
            <a:r>
              <a:rPr sz="1800" b="1">
                <a:solidFill>
                  <a:srgbClr val="00897B"/>
                </a:solidFill>
                <a:latin typeface="Arial"/>
              </a:rPr>
              <a:t>▸ </a:t>
            </a:r>
            <a:r>
              <a:rPr sz="1800" b="0">
                <a:solidFill>
                  <a:srgbClr val="333333"/>
                </a:solidFill>
                <a:latin typeface="Arial"/>
              </a:rPr>
              <a:t>Statutes: Patents, ABS, D&amp;C, FSSAI, DPDP</a:t>
            </a:r>
          </a:p>
          <a:p>
            <a:pPr>
              <a:spcBef>
                <a:spcPts val="1000"/>
              </a:spcBef>
              <a:spcAft>
                <a:spcPts val="600"/>
              </a:spcAft>
            </a:pPr>
            <a:r>
              <a:rPr sz="1800" b="1">
                <a:solidFill>
                  <a:srgbClr val="00897B"/>
                </a:solidFill>
                <a:latin typeface="Arial"/>
              </a:rPr>
              <a:t>▸ </a:t>
            </a:r>
            <a:r>
              <a:rPr sz="1800" b="0">
                <a:solidFill>
                  <a:srgbClr val="333333"/>
                </a:solidFill>
                <a:latin typeface="Arial"/>
              </a:rPr>
              <a:t>Cases: Turmeric, Neem, Basmati, Shaafi</a:t>
            </a:r>
          </a:p>
          <a:p>
            <a:pPr>
              <a:spcBef>
                <a:spcPts val="1000"/>
              </a:spcBef>
              <a:spcAft>
                <a:spcPts val="600"/>
              </a:spcAft>
            </a:pPr>
            <a:r>
              <a:rPr sz="1800" b="1">
                <a:solidFill>
                  <a:srgbClr val="00897B"/>
                </a:solidFill>
                <a:latin typeface="Arial"/>
              </a:rPr>
              <a:t>▸ </a:t>
            </a:r>
            <a:r>
              <a:rPr sz="1800" b="0">
                <a:solidFill>
                  <a:srgbClr val="333333"/>
                </a:solidFill>
                <a:latin typeface="Arial"/>
              </a:rPr>
              <a:t>Market: IBEF, IMARC — USD 45B by 2034</a:t>
            </a:r>
          </a:p>
          <a:p>
            <a:pPr>
              <a:spcBef>
                <a:spcPts val="1000"/>
              </a:spcBef>
              <a:spcAft>
                <a:spcPts val="600"/>
              </a:spcAft>
            </a:pPr>
            <a:r>
              <a:rPr sz="1800" b="1">
                <a:solidFill>
                  <a:srgbClr val="00897B"/>
                </a:solidFill>
                <a:latin typeface="Arial"/>
              </a:rPr>
              <a:t>▸ </a:t>
            </a:r>
            <a:r>
              <a:rPr sz="1800" b="0">
                <a:solidFill>
                  <a:srgbClr val="333333"/>
                </a:solidFill>
                <a:latin typeface="Arial"/>
              </a:rPr>
              <a:t>AI Safety: LegalBench-RAG, ClaimRAG-LAW</a:t>
            </a:r>
          </a:p>
          <a:p>
            <a:pPr>
              <a:spcBef>
                <a:spcPts val="1000"/>
              </a:spcBef>
              <a:spcAft>
                <a:spcPts val="600"/>
              </a:spcAft>
            </a:pPr>
            <a:r>
              <a:rPr sz="1800" b="1">
                <a:solidFill>
                  <a:srgbClr val="00897B"/>
                </a:solidFill>
                <a:latin typeface="Arial"/>
              </a:rPr>
              <a:t>▸ </a:t>
            </a:r>
            <a:r>
              <a:rPr sz="1800" b="0">
                <a:solidFill>
                  <a:srgbClr val="333333"/>
                </a:solidFill>
                <a:latin typeface="Arial"/>
              </a:rPr>
              <a:t>Sources: India Code, WIPO, Bhashini, Kanoon</a:t>
            </a:r>
          </a:p>
        </p:txBody>
      </p:sp>
      <p:sp>
        <p:nvSpPr>
          <p:cNvPr id="17421" name="TextBox 17420"/>
          <p:cNvSpPr txBox="1"/>
          <p:nvPr/>
        </p:nvSpPr>
        <p:spPr>
          <a:xfrm>
            <a:off x="6858000" y="2011680"/>
            <a:ext cx="4572000" cy="320040"/>
          </a:xfrm>
          <a:prstGeom prst="rect">
            <a:avLst/>
          </a:prstGeom>
          <a:noFill/>
        </p:spPr>
        <p:txBody>
          <a:bodyPr wrap="none">
            <a:spAutoFit/>
          </a:bodyPr>
          <a:lstStyle/>
          <a:p>
            <a:r>
              <a:rPr sz="1400" b="1">
                <a:solidFill>
                  <a:srgbClr val="1A237E"/>
                </a:solidFill>
                <a:latin typeface="Arial"/>
              </a:rPr>
              <a:t>CITATION SNAPSHOT</a:t>
            </a:r>
          </a:p>
        </p:txBody>
      </p:sp>
      <p:sp>
        <p:nvSpPr>
          <p:cNvPr id="17422" name="Rectangle 17421"/>
          <p:cNvSpPr/>
          <p:nvPr/>
        </p:nvSpPr>
        <p:spPr>
          <a:xfrm>
            <a:off x="6675120" y="2423160"/>
            <a:ext cx="4846320" cy="2560320"/>
          </a:xfrm>
          <a:prstGeom prst="rect">
            <a:avLst/>
          </a:prstGeom>
          <a:solidFill>
            <a:srgbClr val="F5F5F5"/>
          </a:solidFill>
          <a:ln w="12700">
            <a:solidFill>
              <a:srgbClr val="BDBD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3" name="Rectangle 17422"/>
          <p:cNvSpPr/>
          <p:nvPr/>
        </p:nvSpPr>
        <p:spPr>
          <a:xfrm>
            <a:off x="6675120" y="2423160"/>
            <a:ext cx="4846320" cy="4114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1" dirty="0">
                <a:solidFill>
                  <a:srgbClr val="FFFFFF"/>
                </a:solidFill>
                <a:latin typeface="Arial"/>
              </a:rPr>
              <a:t>    IP-SAKTI </a:t>
            </a:r>
            <a:r>
              <a:rPr sz="1200" b="1" dirty="0" err="1">
                <a:solidFill>
                  <a:srgbClr val="FFFFFF"/>
                </a:solidFill>
                <a:latin typeface="Arial"/>
              </a:rPr>
              <a:t>Sahayak</a:t>
            </a:r>
            <a:r>
              <a:rPr sz="1200" b="1" dirty="0">
                <a:solidFill>
                  <a:srgbClr val="FFFFFF"/>
                </a:solidFill>
                <a:latin typeface="Arial"/>
              </a:rPr>
              <a:t> Response</a:t>
            </a:r>
          </a:p>
        </p:txBody>
      </p:sp>
      <p:sp>
        <p:nvSpPr>
          <p:cNvPr id="17424" name="TextBox 17423"/>
          <p:cNvSpPr txBox="1"/>
          <p:nvPr/>
        </p:nvSpPr>
        <p:spPr>
          <a:xfrm>
            <a:off x="6858000" y="2926080"/>
            <a:ext cx="4480560" cy="1400383"/>
          </a:xfrm>
          <a:prstGeom prst="rect">
            <a:avLst/>
          </a:prstGeom>
          <a:noFill/>
        </p:spPr>
        <p:txBody>
          <a:bodyPr wrap="square">
            <a:spAutoFit/>
          </a:bodyPr>
          <a:lstStyle/>
          <a:p>
            <a:pPr>
              <a:spcAft>
                <a:spcPts val="600"/>
              </a:spcAft>
            </a:pPr>
            <a:r>
              <a:rPr sz="1100" i="1" dirty="0">
                <a:solidFill>
                  <a:srgbClr val="333333"/>
                </a:solidFill>
                <a:latin typeface="Arial"/>
              </a:rPr>
              <a:t>"Under Section 3(p) of the Patents Act, 1970, traditional knowledge cannot be patented...</a:t>
            </a:r>
          </a:p>
          <a:p>
            <a:pPr>
              <a:spcBef>
                <a:spcPts val="600"/>
              </a:spcBef>
            </a:pPr>
            <a:r>
              <a:rPr sz="1000" b="1" dirty="0">
                <a:solidFill>
                  <a:srgbClr val="00897B"/>
                </a:solidFill>
                <a:latin typeface="Arial"/>
              </a:rPr>
              <a:t> Source: </a:t>
            </a:r>
            <a:r>
              <a:rPr sz="1000" dirty="0">
                <a:solidFill>
                  <a:srgbClr val="1A237E"/>
                </a:solidFill>
                <a:latin typeface="Arial"/>
              </a:rPr>
              <a:t>India Code · Patents Act 1970 · §3(p)</a:t>
            </a:r>
          </a:p>
          <a:p>
            <a:pPr>
              <a:spcBef>
                <a:spcPts val="400"/>
              </a:spcBef>
            </a:pPr>
            <a:r>
              <a:rPr sz="1000" b="1" dirty="0">
                <a:solidFill>
                  <a:srgbClr val="00897B"/>
                </a:solidFill>
                <a:latin typeface="Arial"/>
              </a:rPr>
              <a:t> Source: </a:t>
            </a:r>
            <a:r>
              <a:rPr sz="1000" dirty="0">
                <a:solidFill>
                  <a:srgbClr val="1A237E"/>
                </a:solidFill>
                <a:latin typeface="Arial"/>
              </a:rPr>
              <a:t>TKDL · Formulation DB · Prior Art</a:t>
            </a:r>
          </a:p>
          <a:p>
            <a:pPr>
              <a:spcBef>
                <a:spcPts val="800"/>
              </a:spcBef>
            </a:pPr>
            <a:r>
              <a:rPr lang="en-IN" sz="900" b="1" dirty="0">
                <a:solidFill>
                  <a:srgbClr val="43A047"/>
                </a:solidFill>
                <a:latin typeface="Arial"/>
              </a:rPr>
              <a:t> </a:t>
            </a:r>
            <a:r>
              <a:rPr sz="900" b="1" dirty="0">
                <a:solidFill>
                  <a:srgbClr val="43A047"/>
                </a:solidFill>
                <a:latin typeface="Arial"/>
              </a:rPr>
              <a:t>Confidence: HIGH  ·  Hallucination risk: LOW</a:t>
            </a:r>
          </a:p>
          <a:p>
            <a:pPr>
              <a:spcBef>
                <a:spcPts val="600"/>
              </a:spcBef>
            </a:pPr>
            <a:r>
              <a:rPr sz="900" i="1" dirty="0">
                <a:solidFill>
                  <a:srgbClr val="666666"/>
                </a:solidFill>
                <a:latin typeface="Arial"/>
              </a:rPr>
              <a:t> This is information only — not legal advice</a:t>
            </a:r>
          </a:p>
        </p:txBody>
      </p:sp>
      <p:sp>
        <p:nvSpPr>
          <p:cNvPr id="17425" name="TextBox 17424"/>
          <p:cNvSpPr txBox="1"/>
          <p:nvPr/>
        </p:nvSpPr>
        <p:spPr>
          <a:xfrm>
            <a:off x="457200" y="5349240"/>
            <a:ext cx="10972800" cy="457200"/>
          </a:xfrm>
          <a:prstGeom prst="rect">
            <a:avLst/>
          </a:prstGeom>
          <a:noFill/>
        </p:spPr>
        <p:txBody>
          <a:bodyPr wrap="none">
            <a:spAutoFit/>
          </a:bodyPr>
          <a:lstStyle/>
          <a:p>
            <a:pPr algn="ctr"/>
            <a:r>
              <a:rPr sz="1300" b="1">
                <a:solidFill>
                  <a:srgbClr val="1A237E"/>
                </a:solidFill>
                <a:latin typeface="Arial"/>
              </a:rPr>
              <a:t>Generic LLMs hallucinate 58–82% on legal queries  →  RAG-grounded systems: &lt;17%  →  IP-SAKTI target: &lt;10%</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7493</TotalTime>
  <Words>1278</Words>
  <Application>Microsoft Office PowerPoint</Application>
  <PresentationFormat>Widescreen</PresentationFormat>
  <Paragraphs>153</Paragraphs>
  <Slides>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Garamond</vt:lpstr>
      <vt:lpstr>Times New Roman</vt:lpstr>
      <vt:lpstr>TradeGothic</vt:lpstr>
      <vt:lpstr>Wingdings</vt:lpstr>
      <vt:lpstr>Office Theme</vt:lpstr>
      <vt:lpstr>SMART INDIA HACKATHON 2026</vt:lpstr>
      <vt:lpstr>PROPOSED SOLUTION / IDEA</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ayushkumarsaha32@gmail.com</cp:lastModifiedBy>
  <cp:revision>150</cp:revision>
  <dcterms:created xsi:type="dcterms:W3CDTF">2013-12-12T18:46:50Z</dcterms:created>
  <dcterms:modified xsi:type="dcterms:W3CDTF">2026-08-28T14:15:41Z</dcterms:modified>
  <cp:category/>
</cp:coreProperties>
</file>